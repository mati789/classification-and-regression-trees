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100000" compatMode="1" strictFirstAndLastChars="0" saveSubsetFonts="1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2" r:id="rId7"/>
  </p:sldIdLst>
  <p:sldSz cx="13433425" cy="7556500"/>
  <p:notesSz cx="6858000" cy="9144000"/>
  <p:defaultTextStyle>
    <a:defPPr>
      <a:defRPr lang="pl-PL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380">
          <p15:clr>
            <a:srgbClr val="A4A3A4"/>
          </p15:clr>
        </p15:guide>
        <p15:guide id="2" pos="423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473"/>
    <p:restoredTop sz="94720"/>
  </p:normalViewPr>
  <p:slideViewPr>
    <p:cSldViewPr>
      <p:cViewPr>
        <p:scale>
          <a:sx n="93" d="100"/>
          <a:sy n="93" d="100"/>
        </p:scale>
        <p:origin x="488" y="264"/>
      </p:cViewPr>
      <p:guideLst>
        <p:guide orient="horz" pos="2380"/>
        <p:guide pos="423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">
            <a:extLst>
              <a:ext uri="{FF2B5EF4-FFF2-40B4-BE49-F238E27FC236}">
                <a16:creationId xmlns:a16="http://schemas.microsoft.com/office/drawing/2014/main" id="{9ADFD21E-7BF6-A85B-9220-19CA223710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2588" y="685800"/>
            <a:ext cx="6092825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C8648E55-F42A-4966-8236-3D393F477ABB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l-PL" altLang="pl-PL" noProof="0">
                <a:sym typeface="Helvetica Neue" charset="0"/>
              </a:rPr>
              <a:t>Click to edit Master text styles</a:t>
            </a:r>
          </a:p>
          <a:p>
            <a:pPr lvl="1"/>
            <a:r>
              <a:rPr lang="pl-PL" altLang="pl-PL" noProof="0">
                <a:sym typeface="Helvetica Neue" charset="0"/>
              </a:rPr>
              <a:t>Second level</a:t>
            </a:r>
          </a:p>
          <a:p>
            <a:pPr lvl="2"/>
            <a:r>
              <a:rPr lang="pl-PL" altLang="pl-PL" noProof="0">
                <a:sym typeface="Helvetica Neue" charset="0"/>
              </a:rPr>
              <a:t>Third level</a:t>
            </a:r>
          </a:p>
          <a:p>
            <a:pPr lvl="3"/>
            <a:r>
              <a:rPr lang="pl-PL" altLang="pl-PL" noProof="0">
                <a:sym typeface="Helvetica Neue" charset="0"/>
              </a:rPr>
              <a:t>Fourth level</a:t>
            </a:r>
          </a:p>
          <a:p>
            <a:pPr lvl="4"/>
            <a:r>
              <a:rPr lang="pl-PL" altLang="pl-PL" noProof="0">
                <a:sym typeface="Helvetica Neue" charset="0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panose="02000503000000020004" pitchFamily="2" charset="0"/>
      </a:defRPr>
    </a:lvl1pPr>
    <a:lvl2pPr indent="228600"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panose="02000503000000020004" pitchFamily="2" charset="0"/>
      </a:defRPr>
    </a:lvl2pPr>
    <a:lvl3pPr indent="457200"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panose="02000503000000020004" pitchFamily="2" charset="0"/>
      </a:defRPr>
    </a:lvl3pPr>
    <a:lvl4pPr indent="685800"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panose="02000503000000020004" pitchFamily="2" charset="0"/>
      </a:defRPr>
    </a:lvl4pPr>
    <a:lvl5pPr indent="914400" algn="l" rtl="0" eaLnBrk="0" fontAlgn="base" hangingPunct="0">
      <a:spcBef>
        <a:spcPct val="0"/>
      </a:spcBef>
      <a:spcAft>
        <a:spcPct val="0"/>
      </a:spcAft>
      <a:defRPr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panose="02000503000000020004" pitchFamily="2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9178" y="1236678"/>
            <a:ext cx="10075069" cy="2630781"/>
          </a:xfrm>
        </p:spPr>
        <p:txBody>
          <a:bodyPr anchor="b"/>
          <a:lstStyle>
            <a:lvl1pPr algn="ctr">
              <a:defRPr sz="6611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9178" y="3968912"/>
            <a:ext cx="10075069" cy="1824404"/>
          </a:xfrm>
        </p:spPr>
        <p:txBody>
          <a:bodyPr/>
          <a:lstStyle>
            <a:lvl1pPr marL="0" indent="0" algn="ctr">
              <a:buNone/>
              <a:defRPr sz="2644"/>
            </a:lvl1pPr>
            <a:lvl2pPr marL="503743" indent="0" algn="ctr">
              <a:buNone/>
              <a:defRPr sz="2204"/>
            </a:lvl2pPr>
            <a:lvl3pPr marL="1007486" indent="0" algn="ctr">
              <a:buNone/>
              <a:defRPr sz="1983"/>
            </a:lvl3pPr>
            <a:lvl4pPr marL="1511229" indent="0" algn="ctr">
              <a:buNone/>
              <a:defRPr sz="1763"/>
            </a:lvl4pPr>
            <a:lvl5pPr marL="2014972" indent="0" algn="ctr">
              <a:buNone/>
              <a:defRPr sz="1763"/>
            </a:lvl5pPr>
            <a:lvl6pPr marL="2518715" indent="0" algn="ctr">
              <a:buNone/>
              <a:defRPr sz="1763"/>
            </a:lvl6pPr>
            <a:lvl7pPr marL="3022458" indent="0" algn="ctr">
              <a:buNone/>
              <a:defRPr sz="1763"/>
            </a:lvl7pPr>
            <a:lvl8pPr marL="3526201" indent="0" algn="ctr">
              <a:buNone/>
              <a:defRPr sz="1763"/>
            </a:lvl8pPr>
            <a:lvl9pPr marL="4029944" indent="0" algn="ctr">
              <a:buNone/>
              <a:defRPr sz="1763"/>
            </a:lvl9pPr>
          </a:lstStyle>
          <a:p>
            <a:r>
              <a:rPr lang="pl-PL"/>
              <a:t>Kliknij, aby edytować styl wzorca podtytułu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29E36-7807-3A01-30C2-3BCCD536E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6B7A37-7A93-1540-ABFE-CDE7422C473A}" type="datetimeFigureOut">
              <a:rPr lang="en-US"/>
              <a:pPr>
                <a:defRPr/>
              </a:pPr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913B78-A641-46C6-3FB4-C82B3F351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4C151-6EFD-CCCD-921E-6236F0CC3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062DAE-D1CB-4746-8FA9-C005D5B1ACBD}" type="slidenum">
              <a:rPr lang="pl-PL" altLang="pl-PL"/>
              <a:pPr/>
              <a:t>‹#›</a:t>
            </a:fld>
            <a:endParaRPr lang="pl-PL" altLang="pl-PL"/>
          </a:p>
        </p:txBody>
      </p:sp>
    </p:spTree>
    <p:extLst>
      <p:ext uri="{BB962C8B-B14F-4D97-AF65-F5344CB8AC3E}">
        <p14:creationId xmlns:p14="http://schemas.microsoft.com/office/powerpoint/2010/main" val="1510040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8CC17-910B-A6EB-CA62-D5D8E85DF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73C8DA-131F-9E49-A91D-BF4861A6651A}" type="datetimeFigureOut">
              <a:rPr lang="en-US"/>
              <a:pPr>
                <a:defRPr/>
              </a:pPr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5C4BB7-CB3F-74C9-4123-3A8105CD3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FCCA8-090B-34C4-32CE-B2DC68EB4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3E3CFD-6DE4-A44F-8BBE-0B20B4D368AB}" type="slidenum">
              <a:rPr lang="pl-PL" altLang="pl-PL"/>
              <a:pPr/>
              <a:t>‹#›</a:t>
            </a:fld>
            <a:endParaRPr lang="pl-PL" altLang="pl-PL"/>
          </a:p>
        </p:txBody>
      </p:sp>
    </p:spTree>
    <p:extLst>
      <p:ext uri="{BB962C8B-B14F-4D97-AF65-F5344CB8AC3E}">
        <p14:creationId xmlns:p14="http://schemas.microsoft.com/office/powerpoint/2010/main" val="637632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6551" y="1883878"/>
            <a:ext cx="11586329" cy="3143294"/>
          </a:xfrm>
        </p:spPr>
        <p:txBody>
          <a:bodyPr anchor="b"/>
          <a:lstStyle>
            <a:lvl1pPr>
              <a:defRPr sz="6611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6551" y="5056909"/>
            <a:ext cx="11586329" cy="1652984"/>
          </a:xfrm>
        </p:spPr>
        <p:txBody>
          <a:bodyPr/>
          <a:lstStyle>
            <a:lvl1pPr marL="0" indent="0">
              <a:buNone/>
              <a:defRPr sz="2644">
                <a:solidFill>
                  <a:schemeClr val="tx1">
                    <a:tint val="75000"/>
                  </a:schemeClr>
                </a:solidFill>
              </a:defRPr>
            </a:lvl1pPr>
            <a:lvl2pPr marL="503743" indent="0">
              <a:buNone/>
              <a:defRPr sz="2204">
                <a:solidFill>
                  <a:schemeClr val="tx1">
                    <a:tint val="75000"/>
                  </a:schemeClr>
                </a:solidFill>
              </a:defRPr>
            </a:lvl2pPr>
            <a:lvl3pPr marL="1007486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3pPr>
            <a:lvl4pPr marL="1511229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4pPr>
            <a:lvl5pPr marL="2014972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5pPr>
            <a:lvl6pPr marL="2518715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6pPr>
            <a:lvl7pPr marL="3022458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7pPr>
            <a:lvl8pPr marL="3526201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8pPr>
            <a:lvl9pPr marL="4029944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78A448-50C4-49F8-6457-032ACCF78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9B398E-E485-2146-9394-C5C2B0B64BEB}" type="datetimeFigureOut">
              <a:rPr lang="en-US"/>
              <a:pPr>
                <a:defRPr/>
              </a:pPr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8B6E2-F556-88FA-E062-01E4E6FF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AD6F03-517C-0F17-2299-B85D78060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88F500-CFB6-2342-B468-C15B5C5CD368}" type="slidenum">
              <a:rPr lang="pl-PL" altLang="pl-PL"/>
              <a:pPr/>
              <a:t>‹#›</a:t>
            </a:fld>
            <a:endParaRPr lang="pl-PL" altLang="pl-PL"/>
          </a:p>
        </p:txBody>
      </p:sp>
    </p:spTree>
    <p:extLst>
      <p:ext uri="{BB962C8B-B14F-4D97-AF65-F5344CB8AC3E}">
        <p14:creationId xmlns:p14="http://schemas.microsoft.com/office/powerpoint/2010/main" val="3081134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23548" y="2011568"/>
            <a:ext cx="5709206" cy="479453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0671" y="2011568"/>
            <a:ext cx="5709206" cy="479453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758B05F-7185-D38E-14A8-B21A570ED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71E96F-69F9-BA4D-8F20-8DD89331C376}" type="datetimeFigureOut">
              <a:rPr lang="en-US"/>
              <a:pPr>
                <a:defRPr/>
              </a:pPr>
              <a:t>12/5/25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58A62A7-0CBA-E29D-E1E9-882CFA6A5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0E37C68-FB83-FC30-865A-97A75129C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867671-5ECB-2E4A-9A1F-24502C64C08A}" type="slidenum">
              <a:rPr lang="pl-PL" altLang="pl-PL"/>
              <a:pPr/>
              <a:t>‹#›</a:t>
            </a:fld>
            <a:endParaRPr lang="pl-PL" altLang="pl-PL"/>
          </a:p>
        </p:txBody>
      </p:sp>
    </p:spTree>
    <p:extLst>
      <p:ext uri="{BB962C8B-B14F-4D97-AF65-F5344CB8AC3E}">
        <p14:creationId xmlns:p14="http://schemas.microsoft.com/office/powerpoint/2010/main" val="3806114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298" y="402314"/>
            <a:ext cx="11586329" cy="1460574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5298" y="1852393"/>
            <a:ext cx="5682968" cy="907829"/>
          </a:xfrm>
        </p:spPr>
        <p:txBody>
          <a:bodyPr anchor="b"/>
          <a:lstStyle>
            <a:lvl1pPr marL="0" indent="0">
              <a:buNone/>
              <a:defRPr sz="2644" b="1"/>
            </a:lvl1pPr>
            <a:lvl2pPr marL="503743" indent="0">
              <a:buNone/>
              <a:defRPr sz="2204" b="1"/>
            </a:lvl2pPr>
            <a:lvl3pPr marL="1007486" indent="0">
              <a:buNone/>
              <a:defRPr sz="1983" b="1"/>
            </a:lvl3pPr>
            <a:lvl4pPr marL="1511229" indent="0">
              <a:buNone/>
              <a:defRPr sz="1763" b="1"/>
            </a:lvl4pPr>
            <a:lvl5pPr marL="2014972" indent="0">
              <a:buNone/>
              <a:defRPr sz="1763" b="1"/>
            </a:lvl5pPr>
            <a:lvl6pPr marL="2518715" indent="0">
              <a:buNone/>
              <a:defRPr sz="1763" b="1"/>
            </a:lvl6pPr>
            <a:lvl7pPr marL="3022458" indent="0">
              <a:buNone/>
              <a:defRPr sz="1763" b="1"/>
            </a:lvl7pPr>
            <a:lvl8pPr marL="3526201" indent="0">
              <a:buNone/>
              <a:defRPr sz="1763" b="1"/>
            </a:lvl8pPr>
            <a:lvl9pPr marL="4029944" indent="0">
              <a:buNone/>
              <a:defRPr sz="1763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298" y="2760222"/>
            <a:ext cx="5682968" cy="405987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00672" y="1852393"/>
            <a:ext cx="5710955" cy="907829"/>
          </a:xfrm>
        </p:spPr>
        <p:txBody>
          <a:bodyPr anchor="b"/>
          <a:lstStyle>
            <a:lvl1pPr marL="0" indent="0">
              <a:buNone/>
              <a:defRPr sz="2644" b="1"/>
            </a:lvl1pPr>
            <a:lvl2pPr marL="503743" indent="0">
              <a:buNone/>
              <a:defRPr sz="2204" b="1"/>
            </a:lvl2pPr>
            <a:lvl3pPr marL="1007486" indent="0">
              <a:buNone/>
              <a:defRPr sz="1983" b="1"/>
            </a:lvl3pPr>
            <a:lvl4pPr marL="1511229" indent="0">
              <a:buNone/>
              <a:defRPr sz="1763" b="1"/>
            </a:lvl4pPr>
            <a:lvl5pPr marL="2014972" indent="0">
              <a:buNone/>
              <a:defRPr sz="1763" b="1"/>
            </a:lvl5pPr>
            <a:lvl6pPr marL="2518715" indent="0">
              <a:buNone/>
              <a:defRPr sz="1763" b="1"/>
            </a:lvl6pPr>
            <a:lvl7pPr marL="3022458" indent="0">
              <a:buNone/>
              <a:defRPr sz="1763" b="1"/>
            </a:lvl7pPr>
            <a:lvl8pPr marL="3526201" indent="0">
              <a:buNone/>
              <a:defRPr sz="1763" b="1"/>
            </a:lvl8pPr>
            <a:lvl9pPr marL="4029944" indent="0">
              <a:buNone/>
              <a:defRPr sz="1763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800672" y="2760222"/>
            <a:ext cx="5710955" cy="4059870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30D99A6-F18E-0E6F-1BC0-ABCA7D0D5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F7CE81-3EA9-FF4B-B2B2-B54DD5C019CF}" type="datetimeFigureOut">
              <a:rPr lang="en-US"/>
              <a:pPr>
                <a:defRPr/>
              </a:pPr>
              <a:t>12/5/25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4C1C9D4-2A43-34CF-FA19-40F28DFAC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AF3554-498F-452D-C129-9780F997F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4C0A43-5927-4B4B-99E3-539653F1BF42}" type="slidenum">
              <a:rPr lang="pl-PL" altLang="pl-PL"/>
              <a:pPr/>
              <a:t>‹#›</a:t>
            </a:fld>
            <a:endParaRPr lang="pl-PL" altLang="pl-PL"/>
          </a:p>
        </p:txBody>
      </p:sp>
    </p:spTree>
    <p:extLst>
      <p:ext uri="{BB962C8B-B14F-4D97-AF65-F5344CB8AC3E}">
        <p14:creationId xmlns:p14="http://schemas.microsoft.com/office/powerpoint/2010/main" val="2506638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F907778-5CBA-029E-3FFC-C0D51FECD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595D48-6024-8C45-9703-7617D48B8453}" type="datetimeFigureOut">
              <a:rPr lang="en-US"/>
              <a:pPr>
                <a:defRPr/>
              </a:pPr>
              <a:t>12/5/25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518AFCE-6DE5-6967-7DA7-3D09162B1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33728C5-7928-5707-9F4E-8104B2CEA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80EDC0-178A-A34C-88DC-849A65C805BD}" type="slidenum">
              <a:rPr lang="pl-PL" altLang="pl-PL"/>
              <a:pPr/>
              <a:t>‹#›</a:t>
            </a:fld>
            <a:endParaRPr lang="pl-PL" altLang="pl-PL"/>
          </a:p>
        </p:txBody>
      </p:sp>
    </p:spTree>
    <p:extLst>
      <p:ext uri="{BB962C8B-B14F-4D97-AF65-F5344CB8AC3E}">
        <p14:creationId xmlns:p14="http://schemas.microsoft.com/office/powerpoint/2010/main" val="1235851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3FC3F790-CAB4-B9C8-F868-9BE9A3B50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364FB-A338-AC48-BC71-9FE3906D1DAC}" type="datetimeFigureOut">
              <a:rPr lang="en-US"/>
              <a:pPr>
                <a:defRPr/>
              </a:pPr>
              <a:t>12/5/25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A09B688A-A568-5D9A-0BE5-48FD034FC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3BB3BBD-FC7C-6C3A-06C1-986D10575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2C0D36-347D-C349-8D45-64481EF217C0}" type="slidenum">
              <a:rPr lang="pl-PL" altLang="pl-PL"/>
              <a:pPr/>
              <a:t>‹#›</a:t>
            </a:fld>
            <a:endParaRPr lang="pl-PL" altLang="pl-PL"/>
          </a:p>
        </p:txBody>
      </p:sp>
    </p:spTree>
    <p:extLst>
      <p:ext uri="{BB962C8B-B14F-4D97-AF65-F5344CB8AC3E}">
        <p14:creationId xmlns:p14="http://schemas.microsoft.com/office/powerpoint/2010/main" val="703319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298" y="503767"/>
            <a:ext cx="4332629" cy="1763183"/>
          </a:xfrm>
        </p:spPr>
        <p:txBody>
          <a:bodyPr anchor="b"/>
          <a:lstStyle>
            <a:lvl1pPr>
              <a:defRPr sz="3526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0956" y="1087996"/>
            <a:ext cx="6800671" cy="5370013"/>
          </a:xfrm>
        </p:spPr>
        <p:txBody>
          <a:bodyPr/>
          <a:lstStyle>
            <a:lvl1pPr>
              <a:defRPr sz="3526"/>
            </a:lvl1pPr>
            <a:lvl2pPr>
              <a:defRPr sz="3085"/>
            </a:lvl2pPr>
            <a:lvl3pPr>
              <a:defRPr sz="2644"/>
            </a:lvl3pPr>
            <a:lvl4pPr>
              <a:defRPr sz="2204"/>
            </a:lvl4pPr>
            <a:lvl5pPr>
              <a:defRPr sz="2204"/>
            </a:lvl5pPr>
            <a:lvl6pPr>
              <a:defRPr sz="2204"/>
            </a:lvl6pPr>
            <a:lvl7pPr>
              <a:defRPr sz="2204"/>
            </a:lvl7pPr>
            <a:lvl8pPr>
              <a:defRPr sz="2204"/>
            </a:lvl8pPr>
            <a:lvl9pPr>
              <a:defRPr sz="2204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5298" y="2266950"/>
            <a:ext cx="4332629" cy="4199805"/>
          </a:xfrm>
        </p:spPr>
        <p:txBody>
          <a:bodyPr/>
          <a:lstStyle>
            <a:lvl1pPr marL="0" indent="0">
              <a:buNone/>
              <a:defRPr sz="1763"/>
            </a:lvl1pPr>
            <a:lvl2pPr marL="503743" indent="0">
              <a:buNone/>
              <a:defRPr sz="1543"/>
            </a:lvl2pPr>
            <a:lvl3pPr marL="1007486" indent="0">
              <a:buNone/>
              <a:defRPr sz="1322"/>
            </a:lvl3pPr>
            <a:lvl4pPr marL="1511229" indent="0">
              <a:buNone/>
              <a:defRPr sz="1102"/>
            </a:lvl4pPr>
            <a:lvl5pPr marL="2014972" indent="0">
              <a:buNone/>
              <a:defRPr sz="1102"/>
            </a:lvl5pPr>
            <a:lvl6pPr marL="2518715" indent="0">
              <a:buNone/>
              <a:defRPr sz="1102"/>
            </a:lvl6pPr>
            <a:lvl7pPr marL="3022458" indent="0">
              <a:buNone/>
              <a:defRPr sz="1102"/>
            </a:lvl7pPr>
            <a:lvl8pPr marL="3526201" indent="0">
              <a:buNone/>
              <a:defRPr sz="1102"/>
            </a:lvl8pPr>
            <a:lvl9pPr marL="4029944" indent="0">
              <a:buNone/>
              <a:defRPr sz="1102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D5D977F-2CC6-BF1B-449B-26A6DFD93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99FD78-D206-7445-B53E-F1930E8F2C5E}" type="datetimeFigureOut">
              <a:rPr lang="en-US"/>
              <a:pPr>
                <a:defRPr/>
              </a:pPr>
              <a:t>12/5/25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3161D62-54EB-90F8-20CF-CB7740165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9AE12CB-CC47-A0C7-05F2-6265EFD28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24793F-416B-3A4E-B182-779F6289A1FD}" type="slidenum">
              <a:rPr lang="pl-PL" altLang="pl-PL"/>
              <a:pPr/>
              <a:t>‹#›</a:t>
            </a:fld>
            <a:endParaRPr lang="pl-PL" altLang="pl-PL"/>
          </a:p>
        </p:txBody>
      </p:sp>
    </p:spTree>
    <p:extLst>
      <p:ext uri="{BB962C8B-B14F-4D97-AF65-F5344CB8AC3E}">
        <p14:creationId xmlns:p14="http://schemas.microsoft.com/office/powerpoint/2010/main" val="1268646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298" y="503767"/>
            <a:ext cx="4332629" cy="1763183"/>
          </a:xfrm>
        </p:spPr>
        <p:txBody>
          <a:bodyPr anchor="b"/>
          <a:lstStyle>
            <a:lvl1pPr>
              <a:defRPr sz="3526"/>
            </a:lvl1pPr>
          </a:lstStyle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710956" y="1087996"/>
            <a:ext cx="6800671" cy="5370013"/>
          </a:xfrm>
        </p:spPr>
        <p:txBody>
          <a:bodyPr rtlCol="0">
            <a:normAutofit/>
          </a:bodyPr>
          <a:lstStyle>
            <a:lvl1pPr marL="0" indent="0">
              <a:buNone/>
              <a:defRPr sz="3526"/>
            </a:lvl1pPr>
            <a:lvl2pPr marL="503743" indent="0">
              <a:buNone/>
              <a:defRPr sz="3085"/>
            </a:lvl2pPr>
            <a:lvl3pPr marL="1007486" indent="0">
              <a:buNone/>
              <a:defRPr sz="2644"/>
            </a:lvl3pPr>
            <a:lvl4pPr marL="1511229" indent="0">
              <a:buNone/>
              <a:defRPr sz="2204"/>
            </a:lvl4pPr>
            <a:lvl5pPr marL="2014972" indent="0">
              <a:buNone/>
              <a:defRPr sz="2204"/>
            </a:lvl5pPr>
            <a:lvl6pPr marL="2518715" indent="0">
              <a:buNone/>
              <a:defRPr sz="2204"/>
            </a:lvl6pPr>
            <a:lvl7pPr marL="3022458" indent="0">
              <a:buNone/>
              <a:defRPr sz="2204"/>
            </a:lvl7pPr>
            <a:lvl8pPr marL="3526201" indent="0">
              <a:buNone/>
              <a:defRPr sz="2204"/>
            </a:lvl8pPr>
            <a:lvl9pPr marL="4029944" indent="0">
              <a:buNone/>
              <a:defRPr sz="2204"/>
            </a:lvl9pPr>
          </a:lstStyle>
          <a:p>
            <a:pPr lvl="0"/>
            <a:r>
              <a:rPr lang="pl-PL" noProof="0"/>
              <a:t>Kliknij ikonę, aby dodać obraz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5298" y="2266950"/>
            <a:ext cx="4332629" cy="4199805"/>
          </a:xfrm>
        </p:spPr>
        <p:txBody>
          <a:bodyPr/>
          <a:lstStyle>
            <a:lvl1pPr marL="0" indent="0">
              <a:buNone/>
              <a:defRPr sz="1763"/>
            </a:lvl1pPr>
            <a:lvl2pPr marL="503743" indent="0">
              <a:buNone/>
              <a:defRPr sz="1543"/>
            </a:lvl2pPr>
            <a:lvl3pPr marL="1007486" indent="0">
              <a:buNone/>
              <a:defRPr sz="1322"/>
            </a:lvl3pPr>
            <a:lvl4pPr marL="1511229" indent="0">
              <a:buNone/>
              <a:defRPr sz="1102"/>
            </a:lvl4pPr>
            <a:lvl5pPr marL="2014972" indent="0">
              <a:buNone/>
              <a:defRPr sz="1102"/>
            </a:lvl5pPr>
            <a:lvl6pPr marL="2518715" indent="0">
              <a:buNone/>
              <a:defRPr sz="1102"/>
            </a:lvl6pPr>
            <a:lvl7pPr marL="3022458" indent="0">
              <a:buNone/>
              <a:defRPr sz="1102"/>
            </a:lvl7pPr>
            <a:lvl8pPr marL="3526201" indent="0">
              <a:buNone/>
              <a:defRPr sz="1102"/>
            </a:lvl8pPr>
            <a:lvl9pPr marL="4029944" indent="0">
              <a:buNone/>
              <a:defRPr sz="1102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600A61B-E49F-6068-BE46-CBBE04547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AAD30F-B322-B243-AF46-698122273E29}" type="datetimeFigureOut">
              <a:rPr lang="en-US"/>
              <a:pPr>
                <a:defRPr/>
              </a:pPr>
              <a:t>12/5/25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362221-6215-74A6-DC56-4D8733CC0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E64A070-BEB0-BDB2-FA4F-E454C8E5C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AE1E0D-A10F-1B4B-A35E-2F18C99FC804}" type="slidenum">
              <a:rPr lang="pl-PL" altLang="pl-PL"/>
              <a:pPr/>
              <a:t>‹#›</a:t>
            </a:fld>
            <a:endParaRPr lang="pl-PL" altLang="pl-PL"/>
          </a:p>
        </p:txBody>
      </p:sp>
    </p:spTree>
    <p:extLst>
      <p:ext uri="{BB962C8B-B14F-4D97-AF65-F5344CB8AC3E}">
        <p14:creationId xmlns:p14="http://schemas.microsoft.com/office/powerpoint/2010/main" val="793863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C25CD0-E2B6-A1CA-792C-972B4FB55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8164FD-8B79-204E-9C34-78F3A8E75998}" type="datetimeFigureOut">
              <a:rPr lang="en-US"/>
              <a:pPr>
                <a:defRPr/>
              </a:pPr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41E31-82AA-BC99-CD3C-866CF324B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C41C1C-D21E-1BF9-34E4-0B80D00FA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C7F05-B19F-804F-B1EB-A35E6AA0274D}" type="slidenum">
              <a:rPr lang="pl-PL" altLang="pl-PL"/>
              <a:pPr/>
              <a:t>‹#›</a:t>
            </a:fld>
            <a:endParaRPr lang="pl-PL" altLang="pl-PL"/>
          </a:p>
        </p:txBody>
      </p:sp>
    </p:spTree>
    <p:extLst>
      <p:ext uri="{BB962C8B-B14F-4D97-AF65-F5344CB8AC3E}">
        <p14:creationId xmlns:p14="http://schemas.microsoft.com/office/powerpoint/2010/main" val="1410141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613295" y="402314"/>
            <a:ext cx="2896582" cy="6403784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23548" y="402314"/>
            <a:ext cx="8521829" cy="6403784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8BB95B-1DF9-947E-3B53-97ABEBF62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B2F0EC-C770-014C-B3BE-D3BB94028494}" type="datetimeFigureOut">
              <a:rPr lang="en-US"/>
              <a:pPr>
                <a:defRPr/>
              </a:pPr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5A65D7-BA4C-DDB7-E0F0-85AFB52F5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77B2BB-D4F0-A3F2-5448-DC58BBCC1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8AF8F6-D414-274F-A755-BC051316091F}" type="slidenum">
              <a:rPr lang="pl-PL" altLang="pl-PL"/>
              <a:pPr/>
              <a:t>‹#›</a:t>
            </a:fld>
            <a:endParaRPr lang="pl-PL" altLang="pl-PL"/>
          </a:p>
        </p:txBody>
      </p:sp>
    </p:spTree>
    <p:extLst>
      <p:ext uri="{BB962C8B-B14F-4D97-AF65-F5344CB8AC3E}">
        <p14:creationId xmlns:p14="http://schemas.microsoft.com/office/powerpoint/2010/main" val="946017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ED2FCA83-730D-9B1E-3562-5F8BA246E9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23925" y="401638"/>
            <a:ext cx="11585575" cy="146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l-PL" altLang="pl-PL"/>
              <a:t>Kliknij, aby edytować styl</a:t>
            </a:r>
            <a:endParaRPr lang="en-US" altLang="pl-PL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DC697FCB-9405-E860-14B8-B740E0C150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23925" y="2011363"/>
            <a:ext cx="11585575" cy="479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l-PL" altLang="pl-PL"/>
              <a:t>Kliknij, aby edytować style wzorca tekstu</a:t>
            </a:r>
          </a:p>
          <a:p>
            <a:pPr lvl="1"/>
            <a:r>
              <a:rPr lang="pl-PL" altLang="pl-PL"/>
              <a:t>Drugi poziom</a:t>
            </a:r>
          </a:p>
          <a:p>
            <a:pPr lvl="2"/>
            <a:r>
              <a:rPr lang="pl-PL" altLang="pl-PL"/>
              <a:t>Trzeci poziom</a:t>
            </a:r>
          </a:p>
          <a:p>
            <a:pPr lvl="3"/>
            <a:r>
              <a:rPr lang="pl-PL" altLang="pl-PL"/>
              <a:t>Czwarty poziom</a:t>
            </a:r>
          </a:p>
          <a:p>
            <a:pPr lvl="4"/>
            <a:r>
              <a:rPr lang="pl-PL" altLang="pl-PL"/>
              <a:t>Piąty poziom</a:t>
            </a:r>
            <a:endParaRPr lang="en-US" alt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A3CEA7-9CF5-4C97-B35B-BAB3E46D4E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3925" y="7004050"/>
            <a:ext cx="30226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1C56CA-361F-D147-AF6D-57DE44DE5F57}" type="datetimeFigureOut">
              <a:rPr lang="en-US"/>
              <a:pPr>
                <a:defRPr/>
              </a:pPr>
              <a:t>12/5/25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10FC3-166B-4312-B4D9-94720C76FE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49763" y="7004050"/>
            <a:ext cx="45339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408336-09BA-4370-B2ED-716AD23EDF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86900" y="7004050"/>
            <a:ext cx="3022600" cy="401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300">
                <a:solidFill>
                  <a:srgbClr val="898989"/>
                </a:solidFill>
              </a:defRPr>
            </a:lvl1pPr>
          </a:lstStyle>
          <a:p>
            <a:fld id="{A3518D32-6EA3-C44D-855D-8A13622C7506}" type="slidenum">
              <a:rPr lang="pl-PL" altLang="pl-PL"/>
              <a:pPr/>
              <a:t>‹#›</a:t>
            </a:fld>
            <a:endParaRPr lang="pl-PL" altLang="pl-P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0647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100647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2pPr>
      <a:lvl3pPr algn="l" defTabSz="100647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3pPr>
      <a:lvl4pPr algn="l" defTabSz="100647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4pPr>
      <a:lvl5pPr algn="l" defTabSz="100647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1006475" rtl="0" fontAlgn="base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1006475" rtl="0" fontAlgn="base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1006475" rtl="0" fontAlgn="base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1006475" rtl="0" fontAlgn="base">
        <a:lnSpc>
          <a:spcPct val="90000"/>
        </a:lnSpc>
        <a:spcBef>
          <a:spcPct val="0"/>
        </a:spcBef>
        <a:spcAft>
          <a:spcPct val="0"/>
        </a:spcAft>
        <a:defRPr sz="48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50825" indent="-250825" algn="l" defTabSz="1006475" rtl="0" eaLnBrk="0" fontAlgn="base" hangingPunct="0">
        <a:lnSpc>
          <a:spcPct val="90000"/>
        </a:lnSpc>
        <a:spcBef>
          <a:spcPts val="1100"/>
        </a:spcBef>
        <a:spcAft>
          <a:spcPct val="0"/>
        </a:spcAft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54063" indent="-250825" algn="l" defTabSz="1006475" rtl="0" eaLnBrk="0" fontAlgn="base" hangingPunct="0">
        <a:lnSpc>
          <a:spcPct val="90000"/>
        </a:lnSpc>
        <a:spcBef>
          <a:spcPts val="550"/>
        </a:spcBef>
        <a:spcAft>
          <a:spcPct val="0"/>
        </a:spcAft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258888" indent="-250825" algn="l" defTabSz="1006475" rtl="0" eaLnBrk="0" fontAlgn="base" hangingPunct="0">
        <a:lnSpc>
          <a:spcPct val="90000"/>
        </a:lnSpc>
        <a:spcBef>
          <a:spcPts val="550"/>
        </a:spcBef>
        <a:spcAft>
          <a:spcPct val="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2125" indent="-250825" algn="l" defTabSz="1006475" rtl="0" eaLnBrk="0" fontAlgn="base" hangingPunct="0">
        <a:lnSpc>
          <a:spcPct val="90000"/>
        </a:lnSpc>
        <a:spcBef>
          <a:spcPts val="550"/>
        </a:spcBef>
        <a:spcAft>
          <a:spcPct val="0"/>
        </a:spcAft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265363" indent="-250825" algn="l" defTabSz="1006475" rtl="0" eaLnBrk="0" fontAlgn="base" hangingPunct="0">
        <a:lnSpc>
          <a:spcPct val="90000"/>
        </a:lnSpc>
        <a:spcBef>
          <a:spcPts val="550"/>
        </a:spcBef>
        <a:spcAft>
          <a:spcPct val="0"/>
        </a:spcAft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770586" indent="-251871" algn="l" defTabSz="100748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3" kern="1200">
          <a:solidFill>
            <a:schemeClr val="tx1"/>
          </a:solidFill>
          <a:latin typeface="+mn-lt"/>
          <a:ea typeface="+mn-ea"/>
          <a:cs typeface="+mn-cs"/>
        </a:defRPr>
      </a:lvl6pPr>
      <a:lvl7pPr marL="3274329" indent="-251871" algn="l" defTabSz="100748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3" kern="1200">
          <a:solidFill>
            <a:schemeClr val="tx1"/>
          </a:solidFill>
          <a:latin typeface="+mn-lt"/>
          <a:ea typeface="+mn-ea"/>
          <a:cs typeface="+mn-cs"/>
        </a:defRPr>
      </a:lvl7pPr>
      <a:lvl8pPr marL="3778072" indent="-251871" algn="l" defTabSz="100748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3" kern="1200">
          <a:solidFill>
            <a:schemeClr val="tx1"/>
          </a:solidFill>
          <a:latin typeface="+mn-lt"/>
          <a:ea typeface="+mn-ea"/>
          <a:cs typeface="+mn-cs"/>
        </a:defRPr>
      </a:lvl8pPr>
      <a:lvl9pPr marL="4281815" indent="-251871" algn="l" defTabSz="100748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1pPr>
      <a:lvl2pPr marL="503743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2pPr>
      <a:lvl3pPr marL="1007486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3pPr>
      <a:lvl4pPr marL="1511229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4pPr>
      <a:lvl5pPr marL="2014972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5pPr>
      <a:lvl6pPr marL="2518715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6pPr>
      <a:lvl7pPr marL="3022458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7pPr>
      <a:lvl8pPr marL="3526201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8pPr>
      <a:lvl9pPr marL="4029944" algn="l" defTabSz="1007486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gh.edu.pl/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hyperlink" Target="http://www.agh.edu.pl/" TargetMode="Externa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">
            <a:extLst>
              <a:ext uri="{FF2B5EF4-FFF2-40B4-BE49-F238E27FC236}">
                <a16:creationId xmlns:a16="http://schemas.microsoft.com/office/drawing/2014/main" id="{025C2677-C25E-887B-27E4-A33D5FB726E8}"/>
              </a:ext>
            </a:extLst>
          </p:cNvPr>
          <p:cNvSpPr>
            <a:spLocks/>
          </p:cNvSpPr>
          <p:nvPr/>
        </p:nvSpPr>
        <p:spPr bwMode="auto">
          <a:xfrm>
            <a:off x="3856286" y="2482106"/>
            <a:ext cx="5558928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45720" rIns="45720"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/>
            <a:r>
              <a:rPr lang="pl-PL" altLang="pl-PL" sz="3200" dirty="0"/>
              <a:t>CART- </a:t>
            </a:r>
            <a:r>
              <a:rPr lang="pl-PL" altLang="pl-PL" sz="3200" dirty="0" err="1"/>
              <a:t>Classification</a:t>
            </a:r>
            <a:r>
              <a:rPr lang="pl-PL" altLang="pl-PL" sz="3200" dirty="0"/>
              <a:t> and </a:t>
            </a:r>
            <a:r>
              <a:rPr lang="pl-PL" altLang="pl-PL" sz="3200" dirty="0" err="1"/>
              <a:t>Regression</a:t>
            </a:r>
            <a:r>
              <a:rPr lang="pl-PL" altLang="pl-PL" sz="3200" dirty="0"/>
              <a:t> </a:t>
            </a:r>
            <a:r>
              <a:rPr lang="pl-PL" altLang="pl-PL" sz="3200" dirty="0" err="1"/>
              <a:t>Trees</a:t>
            </a:r>
            <a:endParaRPr lang="pl-PL" altLang="pl-PL" sz="3200" dirty="0"/>
          </a:p>
        </p:txBody>
      </p:sp>
      <p:sp>
        <p:nvSpPr>
          <p:cNvPr id="3075" name="Rectangle 2">
            <a:extLst>
              <a:ext uri="{FF2B5EF4-FFF2-40B4-BE49-F238E27FC236}">
                <a16:creationId xmlns:a16="http://schemas.microsoft.com/office/drawing/2014/main" id="{BF28A610-6AC1-E0BF-C931-11734FB50870}"/>
              </a:ext>
            </a:extLst>
          </p:cNvPr>
          <p:cNvSpPr>
            <a:spLocks/>
          </p:cNvSpPr>
          <p:nvPr/>
        </p:nvSpPr>
        <p:spPr bwMode="auto">
          <a:xfrm>
            <a:off x="6635750" y="5791200"/>
            <a:ext cx="523875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45720" rIns="45720"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/>
            <a:r>
              <a:rPr lang="pl-PL" altLang="pl-PL" sz="1600">
                <a:solidFill>
                  <a:srgbClr val="808080"/>
                </a:solidFill>
              </a:rPr>
              <a:t>Data</a:t>
            </a:r>
          </a:p>
        </p:txBody>
      </p:sp>
      <p:sp>
        <p:nvSpPr>
          <p:cNvPr id="3076" name="Rectangle 3">
            <a:extLst>
              <a:ext uri="{FF2B5EF4-FFF2-40B4-BE49-F238E27FC236}">
                <a16:creationId xmlns:a16="http://schemas.microsoft.com/office/drawing/2014/main" id="{6B779D8C-7AAF-1E3D-966F-A98E677CB394}"/>
              </a:ext>
            </a:extLst>
          </p:cNvPr>
          <p:cNvSpPr>
            <a:spLocks/>
          </p:cNvSpPr>
          <p:nvPr/>
        </p:nvSpPr>
        <p:spPr bwMode="auto">
          <a:xfrm>
            <a:off x="3811588" y="4343400"/>
            <a:ext cx="61722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45720" rIns="45720"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algn="ctr" eaLnBrk="1"/>
            <a:r>
              <a:rPr lang="pl-PL" altLang="pl-PL" sz="1200">
                <a:solidFill>
                  <a:srgbClr val="00A200"/>
                </a:solidFill>
                <a:latin typeface="FagoNoBoldCE-Caps" charset="0"/>
                <a:sym typeface="FagoNoBoldCE-Caps" charset="0"/>
              </a:rPr>
              <a:t>Akademia Górniczo-Hutnicza</a:t>
            </a:r>
            <a:r>
              <a:rPr lang="pl-PL" altLang="pl-PL" sz="1200">
                <a:latin typeface="FagoNoBoldCE-Caps" charset="0"/>
                <a:sym typeface="FagoNoBoldCE-Caps" charset="0"/>
              </a:rPr>
              <a:t> </a:t>
            </a:r>
            <a:r>
              <a:rPr lang="pl-PL" altLang="pl-PL" sz="1200">
                <a:solidFill>
                  <a:srgbClr val="808080"/>
                </a:solidFill>
                <a:latin typeface="FagoNoBoldCE-Caps" charset="0"/>
                <a:sym typeface="FagoNoBoldCE-Caps" charset="0"/>
              </a:rPr>
              <a:t>im. Stanisława Staszica w Krakowie</a:t>
            </a:r>
          </a:p>
          <a:p>
            <a:pPr algn="ctr" eaLnBrk="1"/>
            <a:r>
              <a:rPr lang="pl-PL" altLang="pl-PL" sz="1200">
                <a:solidFill>
                  <a:srgbClr val="808080"/>
                </a:solidFill>
                <a:latin typeface="FagoNoBoldCE-Caps" charset="0"/>
                <a:sym typeface="FagoNoBoldCE-Caps" charset="0"/>
              </a:rPr>
              <a:t>AGH University of Krakow</a:t>
            </a:r>
          </a:p>
        </p:txBody>
      </p:sp>
      <p:sp>
        <p:nvSpPr>
          <p:cNvPr id="3077" name="Prostokąt 2">
            <a:hlinkClick r:id="rId3"/>
            <a:extLst>
              <a:ext uri="{FF2B5EF4-FFF2-40B4-BE49-F238E27FC236}">
                <a16:creationId xmlns:a16="http://schemas.microsoft.com/office/drawing/2014/main" id="{C8FC4DDC-EA19-967D-2D6D-0461B0AC96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3375" y="7018338"/>
            <a:ext cx="18002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45720" rIns="45720"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/>
            <a:endParaRPr lang="pl-PL" altLang="pl-PL"/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7C9A8F43-25A3-3CAA-4E12-B46BE025E8C6}"/>
              </a:ext>
            </a:extLst>
          </p:cNvPr>
          <p:cNvSpPr txBox="1"/>
          <p:nvPr/>
        </p:nvSpPr>
        <p:spPr>
          <a:xfrm>
            <a:off x="5566397" y="3974068"/>
            <a:ext cx="2300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800" dirty="0"/>
              <a:t>Author: Mateusz Maj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Prostokąt 2">
            <a:hlinkClick r:id="rId2"/>
            <a:extLst>
              <a:ext uri="{FF2B5EF4-FFF2-40B4-BE49-F238E27FC236}">
                <a16:creationId xmlns:a16="http://schemas.microsoft.com/office/drawing/2014/main" id="{1E067EE1-A453-84B8-E5E4-0829C9763F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7838" y="7018338"/>
            <a:ext cx="18002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45720" rIns="45720"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/>
            <a:endParaRPr lang="pl-PL" alt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840ABAE3-1810-7ADB-363E-B99A97D26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z="4000">
                <a:latin typeface="+mn-lt"/>
              </a:rPr>
              <a:t>Goal of the project</a:t>
            </a:r>
            <a:endParaRPr lang="pl-PL" sz="4000" dirty="0">
              <a:latin typeface="+mn-lt"/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BC2A5DB-618D-FC77-FBAF-A4EB079A6E1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sz="1800" dirty="0"/>
              <a:t>The </a:t>
            </a:r>
            <a:r>
              <a:rPr lang="pl-PL" sz="1800" dirty="0" err="1"/>
              <a:t>main</a:t>
            </a:r>
            <a:r>
              <a:rPr lang="pl-PL" sz="1800" dirty="0"/>
              <a:t> </a:t>
            </a:r>
            <a:r>
              <a:rPr lang="pl-PL" sz="1800" dirty="0" err="1"/>
              <a:t>goal</a:t>
            </a:r>
            <a:r>
              <a:rPr lang="pl-PL" sz="1800" dirty="0"/>
              <a:t> of </a:t>
            </a:r>
            <a:r>
              <a:rPr lang="pl-PL" sz="1800" dirty="0" err="1"/>
              <a:t>this</a:t>
            </a:r>
            <a:r>
              <a:rPr lang="pl-PL" sz="1800" dirty="0"/>
              <a:t> </a:t>
            </a:r>
            <a:r>
              <a:rPr lang="pl-PL" sz="1800" dirty="0" err="1"/>
              <a:t>project</a:t>
            </a:r>
            <a:r>
              <a:rPr lang="pl-PL" sz="1800" dirty="0"/>
              <a:t> </a:t>
            </a:r>
            <a:r>
              <a:rPr lang="pl-PL" sz="1800" dirty="0" err="1"/>
              <a:t>is</a:t>
            </a:r>
            <a:r>
              <a:rPr lang="pl-PL" sz="1800" dirty="0"/>
              <a:t> </a:t>
            </a:r>
            <a:r>
              <a:rPr lang="pl-PL" sz="1800" dirty="0" err="1"/>
              <a:t>educational</a:t>
            </a:r>
            <a:r>
              <a:rPr lang="pl-PL" sz="1800" dirty="0"/>
              <a:t>—to </a:t>
            </a:r>
            <a:r>
              <a:rPr lang="pl-PL" sz="1800" dirty="0" err="1"/>
              <a:t>understand</a:t>
            </a:r>
            <a:r>
              <a:rPr lang="pl-PL" sz="1800" dirty="0"/>
              <a:t> </a:t>
            </a:r>
            <a:r>
              <a:rPr lang="pl-PL" sz="1800" dirty="0" err="1"/>
              <a:t>how</a:t>
            </a:r>
            <a:r>
              <a:rPr lang="pl-PL" sz="1800" dirty="0"/>
              <a:t> the CART (</a:t>
            </a:r>
            <a:r>
              <a:rPr lang="pl-PL" sz="1800" dirty="0" err="1"/>
              <a:t>Decision</a:t>
            </a:r>
            <a:r>
              <a:rPr lang="pl-PL" sz="1800" dirty="0"/>
              <a:t> </a:t>
            </a:r>
            <a:r>
              <a:rPr lang="pl-PL" sz="1800" dirty="0" err="1"/>
              <a:t>Tree</a:t>
            </a:r>
            <a:r>
              <a:rPr lang="pl-PL" sz="1800" dirty="0"/>
              <a:t>) </a:t>
            </a:r>
            <a:r>
              <a:rPr lang="pl-PL" sz="1800" dirty="0" err="1"/>
              <a:t>algorithm</a:t>
            </a:r>
            <a:r>
              <a:rPr lang="pl-PL" sz="1800" dirty="0"/>
              <a:t> </a:t>
            </a:r>
            <a:r>
              <a:rPr lang="pl-PL" sz="1800" dirty="0" err="1"/>
              <a:t>works</a:t>
            </a:r>
            <a:r>
              <a:rPr lang="pl-PL" sz="1800" dirty="0"/>
              <a:t> </a:t>
            </a:r>
            <a:r>
              <a:rPr lang="pl-PL" sz="1800" dirty="0" err="1"/>
              <a:t>internally</a:t>
            </a:r>
            <a:r>
              <a:rPr lang="pl-PL" sz="1800" dirty="0"/>
              <a:t>.</a:t>
            </a:r>
          </a:p>
          <a:p>
            <a:pPr marL="0" indent="0">
              <a:buNone/>
            </a:pPr>
            <a:r>
              <a:rPr lang="pl-PL" sz="1800" dirty="0"/>
              <a:t>We </a:t>
            </a:r>
            <a:r>
              <a:rPr lang="pl-PL" sz="1800" dirty="0" err="1"/>
              <a:t>aim</a:t>
            </a:r>
            <a:r>
              <a:rPr lang="pl-PL" sz="1800" dirty="0"/>
              <a:t> to do </a:t>
            </a:r>
            <a:r>
              <a:rPr lang="pl-PL" sz="1800" dirty="0" err="1"/>
              <a:t>three</a:t>
            </a:r>
            <a:r>
              <a:rPr lang="pl-PL" sz="1800" dirty="0"/>
              <a:t> </a:t>
            </a:r>
            <a:r>
              <a:rPr lang="pl-PL" sz="1800" dirty="0" err="1"/>
              <a:t>things</a:t>
            </a:r>
            <a:r>
              <a:rPr lang="pl-PL" sz="1800" dirty="0"/>
              <a:t>:</a:t>
            </a:r>
          </a:p>
          <a:p>
            <a:r>
              <a:rPr lang="pl-PL" sz="1800" dirty="0" err="1"/>
              <a:t>Demonstrate</a:t>
            </a:r>
            <a:r>
              <a:rPr lang="pl-PL" sz="1800" dirty="0"/>
              <a:t> the </a:t>
            </a:r>
            <a:r>
              <a:rPr lang="pl-PL" sz="1800" dirty="0" err="1"/>
              <a:t>Core</a:t>
            </a:r>
            <a:r>
              <a:rPr lang="pl-PL" sz="1800" dirty="0"/>
              <a:t> </a:t>
            </a:r>
            <a:r>
              <a:rPr lang="pl-PL" sz="1800" dirty="0" err="1"/>
              <a:t>Logic</a:t>
            </a:r>
            <a:r>
              <a:rPr lang="pl-PL" sz="1800" dirty="0"/>
              <a:t>: Show the </a:t>
            </a:r>
            <a:r>
              <a:rPr lang="pl-PL" sz="1800" dirty="0" err="1"/>
              <a:t>mathematical</a:t>
            </a:r>
            <a:r>
              <a:rPr lang="pl-PL" sz="1800" dirty="0"/>
              <a:t> </a:t>
            </a:r>
            <a:r>
              <a:rPr lang="pl-PL" sz="1800" dirty="0" err="1"/>
              <a:t>process</a:t>
            </a:r>
            <a:r>
              <a:rPr lang="pl-PL" sz="1800" dirty="0"/>
              <a:t> of </a:t>
            </a:r>
            <a:r>
              <a:rPr lang="pl-PL" sz="1800" dirty="0" err="1"/>
              <a:t>Entropy</a:t>
            </a:r>
            <a:r>
              <a:rPr lang="pl-PL" sz="1800" dirty="0"/>
              <a:t> and Information </a:t>
            </a:r>
            <a:r>
              <a:rPr lang="pl-PL" sz="1800" dirty="0" err="1"/>
              <a:t>Gain</a:t>
            </a:r>
            <a:r>
              <a:rPr lang="pl-PL" sz="1800" dirty="0"/>
              <a:t>.</a:t>
            </a:r>
          </a:p>
          <a:p>
            <a:r>
              <a:rPr lang="pl-PL" sz="1800" dirty="0" err="1"/>
              <a:t>Implement</a:t>
            </a:r>
            <a:r>
              <a:rPr lang="pl-PL" sz="1800" dirty="0"/>
              <a:t> </a:t>
            </a:r>
            <a:r>
              <a:rPr lang="pl-PL" sz="1800" dirty="0" err="1"/>
              <a:t>Theory</a:t>
            </a:r>
            <a:r>
              <a:rPr lang="pl-PL" sz="1800" dirty="0"/>
              <a:t>: </a:t>
            </a:r>
            <a:r>
              <a:rPr lang="pl-PL" sz="1800" dirty="0" err="1"/>
              <a:t>Use</a:t>
            </a:r>
            <a:r>
              <a:rPr lang="pl-PL" sz="1800" dirty="0"/>
              <a:t> </a:t>
            </a:r>
            <a:r>
              <a:rPr lang="pl-PL" sz="1800" dirty="0" err="1"/>
              <a:t>our</a:t>
            </a:r>
            <a:r>
              <a:rPr lang="pl-PL" sz="1800" dirty="0"/>
              <a:t> </a:t>
            </a:r>
            <a:r>
              <a:rPr lang="pl-PL" sz="1800" dirty="0" err="1"/>
              <a:t>custom</a:t>
            </a:r>
            <a:r>
              <a:rPr lang="pl-PL" sz="1800" dirty="0"/>
              <a:t> </a:t>
            </a:r>
            <a:r>
              <a:rPr lang="pl-PL" sz="1800" dirty="0" err="1"/>
              <a:t>code</a:t>
            </a:r>
            <a:r>
              <a:rPr lang="pl-PL" sz="1800" dirty="0"/>
              <a:t> to </a:t>
            </a:r>
            <a:r>
              <a:rPr lang="pl-PL" sz="1800" dirty="0" err="1"/>
              <a:t>calculate</a:t>
            </a:r>
            <a:r>
              <a:rPr lang="pl-PL" sz="1800" dirty="0"/>
              <a:t> </a:t>
            </a:r>
            <a:r>
              <a:rPr lang="pl-PL" sz="1800" dirty="0" err="1"/>
              <a:t>these</a:t>
            </a:r>
            <a:r>
              <a:rPr lang="pl-PL" sz="1800" dirty="0"/>
              <a:t> </a:t>
            </a:r>
            <a:r>
              <a:rPr lang="pl-PL" sz="1800" dirty="0" err="1"/>
              <a:t>metrics</a:t>
            </a:r>
            <a:r>
              <a:rPr lang="pl-PL" sz="1800" dirty="0"/>
              <a:t> on </a:t>
            </a:r>
            <a:r>
              <a:rPr lang="pl-PL" sz="1800" dirty="0" err="1"/>
              <a:t>flight</a:t>
            </a:r>
            <a:r>
              <a:rPr lang="pl-PL" sz="1800" dirty="0"/>
              <a:t> data.</a:t>
            </a:r>
          </a:p>
          <a:p>
            <a:r>
              <a:rPr lang="pl-PL" sz="1800" dirty="0" err="1"/>
              <a:t>Compare</a:t>
            </a:r>
            <a:r>
              <a:rPr lang="pl-PL" sz="1800" dirty="0"/>
              <a:t> </a:t>
            </a:r>
            <a:r>
              <a:rPr lang="pl-PL" sz="1800" dirty="0" err="1"/>
              <a:t>Models</a:t>
            </a:r>
            <a:r>
              <a:rPr lang="pl-PL" sz="1800" dirty="0"/>
              <a:t>: </a:t>
            </a:r>
            <a:r>
              <a:rPr lang="pl-PL" sz="1800" dirty="0" err="1"/>
              <a:t>Contrast</a:t>
            </a:r>
            <a:r>
              <a:rPr lang="pl-PL" sz="1800" dirty="0"/>
              <a:t> a </a:t>
            </a:r>
            <a:r>
              <a:rPr lang="pl-PL" sz="1800" dirty="0" err="1"/>
              <a:t>heavily</a:t>
            </a:r>
            <a:r>
              <a:rPr lang="pl-PL" sz="1800" dirty="0"/>
              <a:t> </a:t>
            </a:r>
            <a:r>
              <a:rPr lang="pl-PL" sz="1800" dirty="0" err="1"/>
              <a:t>constrained</a:t>
            </a:r>
            <a:r>
              <a:rPr lang="pl-PL" sz="1800" dirty="0"/>
              <a:t> model with a </a:t>
            </a:r>
            <a:r>
              <a:rPr lang="pl-PL" sz="1800" dirty="0" err="1"/>
              <a:t>fully</a:t>
            </a:r>
            <a:r>
              <a:rPr lang="pl-PL" sz="1800" dirty="0"/>
              <a:t> </a:t>
            </a:r>
            <a:r>
              <a:rPr lang="pl-PL" sz="1800" dirty="0" err="1"/>
              <a:t>optimized</a:t>
            </a:r>
            <a:r>
              <a:rPr lang="pl-PL" sz="1800" dirty="0"/>
              <a:t> one to </a:t>
            </a:r>
            <a:r>
              <a:rPr lang="pl-PL" sz="1800" dirty="0" err="1"/>
              <a:t>see</a:t>
            </a:r>
            <a:r>
              <a:rPr lang="pl-PL" sz="1800" dirty="0"/>
              <a:t> the performance </a:t>
            </a:r>
            <a:r>
              <a:rPr lang="pl-PL" sz="1800" dirty="0" err="1"/>
              <a:t>difference</a:t>
            </a:r>
            <a:r>
              <a:rPr lang="pl-PL" sz="1800" dirty="0"/>
              <a:t>.</a:t>
            </a:r>
          </a:p>
          <a:p>
            <a:endParaRPr lang="pl-PL" sz="1800" dirty="0"/>
          </a:p>
        </p:txBody>
      </p:sp>
      <p:pic>
        <p:nvPicPr>
          <p:cNvPr id="6" name="Symbol zastępczy zawartości 5">
            <a:extLst>
              <a:ext uri="{FF2B5EF4-FFF2-40B4-BE49-F238E27FC236}">
                <a16:creationId xmlns:a16="http://schemas.microsoft.com/office/drawing/2014/main" id="{EB148917-7CA0-AB11-ABDF-90293984BB7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8880" y="2399460"/>
            <a:ext cx="2757580" cy="2757580"/>
          </a:xfrm>
        </p:spPr>
      </p:pic>
    </p:spTree>
  </p:cSld>
  <p:clrMapOvr>
    <a:masterClrMapping/>
  </p:clrMapOvr>
  <p:transition spd="med">
    <p:dissolv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CCCB2A6-04C0-CB52-EADE-1C117B534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Database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4C12FEF-096F-AEB8-9349-289D581A17B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sz="1800" dirty="0"/>
              <a:t>We </a:t>
            </a:r>
            <a:r>
              <a:rPr lang="pl-PL" sz="1800" dirty="0" err="1"/>
              <a:t>used</a:t>
            </a:r>
            <a:r>
              <a:rPr lang="pl-PL" sz="1800" dirty="0"/>
              <a:t> the </a:t>
            </a:r>
            <a:r>
              <a:rPr lang="pl-PL" sz="1800" dirty="0" err="1"/>
              <a:t>flight</a:t>
            </a:r>
            <a:r>
              <a:rPr lang="pl-PL" sz="1800" dirty="0"/>
              <a:t> data from </a:t>
            </a:r>
            <a:r>
              <a:rPr lang="pl-PL" sz="1800" dirty="0" err="1"/>
              <a:t>dataset.csv</a:t>
            </a:r>
            <a:r>
              <a:rPr lang="pl-PL" sz="1800" dirty="0"/>
              <a:t> to </a:t>
            </a:r>
            <a:r>
              <a:rPr lang="pl-PL" sz="1800" dirty="0" err="1"/>
              <a:t>train</a:t>
            </a:r>
            <a:r>
              <a:rPr lang="pl-PL" sz="1800" dirty="0"/>
              <a:t> </a:t>
            </a:r>
            <a:r>
              <a:rPr lang="pl-PL" sz="1800" dirty="0" err="1"/>
              <a:t>our</a:t>
            </a:r>
            <a:r>
              <a:rPr lang="pl-PL" sz="1800" dirty="0"/>
              <a:t> </a:t>
            </a:r>
            <a:r>
              <a:rPr lang="pl-PL" sz="1800" dirty="0" err="1"/>
              <a:t>models</a:t>
            </a:r>
            <a:r>
              <a:rPr lang="pl-PL" sz="1800" dirty="0"/>
              <a:t>.</a:t>
            </a:r>
          </a:p>
          <a:p>
            <a:pPr marL="0" indent="0">
              <a:buNone/>
            </a:pPr>
            <a:r>
              <a:rPr lang="pl-PL" sz="1800" dirty="0" err="1"/>
              <a:t>Key</a:t>
            </a:r>
            <a:r>
              <a:rPr lang="pl-PL" sz="1800" dirty="0"/>
              <a:t> Setup </a:t>
            </a:r>
            <a:r>
              <a:rPr lang="pl-PL" sz="1800" dirty="0" err="1"/>
              <a:t>Details</a:t>
            </a:r>
            <a:r>
              <a:rPr lang="pl-PL" sz="1800" dirty="0"/>
              <a:t>:</a:t>
            </a:r>
          </a:p>
          <a:p>
            <a:r>
              <a:rPr lang="pl-PL" sz="1800" dirty="0"/>
              <a:t>Data </a:t>
            </a:r>
            <a:r>
              <a:rPr lang="pl-PL" sz="1800" dirty="0" err="1"/>
              <a:t>Size</a:t>
            </a:r>
            <a:r>
              <a:rPr lang="pl-PL" sz="1800" dirty="0"/>
              <a:t>: We </a:t>
            </a:r>
            <a:r>
              <a:rPr lang="pl-PL" sz="1800" dirty="0" err="1"/>
              <a:t>used</a:t>
            </a:r>
            <a:r>
              <a:rPr lang="pl-PL" sz="1800" dirty="0"/>
              <a:t> a </a:t>
            </a:r>
            <a:r>
              <a:rPr lang="pl-PL" sz="1800" dirty="0" err="1"/>
              <a:t>fixed</a:t>
            </a:r>
            <a:r>
              <a:rPr lang="pl-PL" sz="1800" dirty="0"/>
              <a:t> set of 5,000 </a:t>
            </a:r>
            <a:r>
              <a:rPr lang="pl-PL" sz="1800" dirty="0" err="1"/>
              <a:t>rows</a:t>
            </a:r>
            <a:r>
              <a:rPr lang="pl-PL" sz="1800" dirty="0"/>
              <a:t>.</a:t>
            </a:r>
          </a:p>
          <a:p>
            <a:r>
              <a:rPr lang="pl-PL" sz="1800" dirty="0"/>
              <a:t>Input </a:t>
            </a:r>
            <a:r>
              <a:rPr lang="pl-PL" sz="1800" dirty="0" err="1"/>
              <a:t>Features</a:t>
            </a:r>
            <a:r>
              <a:rPr lang="pl-PL" sz="1800" dirty="0"/>
              <a:t>: </a:t>
            </a:r>
            <a:r>
              <a:rPr lang="pl-PL" sz="1800" dirty="0" err="1"/>
              <a:t>Airline</a:t>
            </a:r>
            <a:r>
              <a:rPr lang="pl-PL" sz="1800" dirty="0"/>
              <a:t>, Source, and </a:t>
            </a:r>
            <a:r>
              <a:rPr lang="pl-PL" sz="1800" dirty="0" err="1"/>
              <a:t>Destination</a:t>
            </a:r>
            <a:r>
              <a:rPr lang="pl-PL" sz="1800" dirty="0"/>
              <a:t>.</a:t>
            </a:r>
          </a:p>
          <a:p>
            <a:r>
              <a:rPr lang="pl-PL" sz="1800" dirty="0" err="1"/>
              <a:t>Output</a:t>
            </a:r>
            <a:r>
              <a:rPr lang="pl-PL" sz="1800" dirty="0"/>
              <a:t> Target: We </a:t>
            </a:r>
            <a:r>
              <a:rPr lang="pl-PL" sz="1800" dirty="0" err="1"/>
              <a:t>predict</a:t>
            </a:r>
            <a:r>
              <a:rPr lang="pl-PL" sz="1800" dirty="0"/>
              <a:t> </a:t>
            </a:r>
            <a:r>
              <a:rPr lang="pl-PL" sz="1800" dirty="0" err="1"/>
              <a:t>Total_Stops</a:t>
            </a:r>
            <a:r>
              <a:rPr lang="pl-PL" sz="1800" dirty="0"/>
              <a:t> (4 </a:t>
            </a:r>
            <a:r>
              <a:rPr lang="pl-PL" sz="1800" dirty="0" err="1"/>
              <a:t>unique</a:t>
            </a:r>
            <a:r>
              <a:rPr lang="pl-PL" sz="1800" dirty="0"/>
              <a:t> </a:t>
            </a:r>
            <a:r>
              <a:rPr lang="pl-PL" sz="1800" dirty="0" err="1"/>
              <a:t>classes</a:t>
            </a:r>
            <a:r>
              <a:rPr lang="pl-PL" sz="1800" dirty="0"/>
              <a:t>).</a:t>
            </a:r>
          </a:p>
          <a:p>
            <a:r>
              <a:rPr lang="pl-PL" sz="1800" dirty="0" err="1"/>
              <a:t>Preparation</a:t>
            </a:r>
            <a:r>
              <a:rPr lang="pl-PL" sz="1800" dirty="0"/>
              <a:t>: </a:t>
            </a:r>
            <a:r>
              <a:rPr lang="pl-PL" sz="1800" dirty="0" err="1"/>
              <a:t>Before</a:t>
            </a:r>
            <a:r>
              <a:rPr lang="pl-PL" sz="1800" dirty="0"/>
              <a:t> </a:t>
            </a:r>
            <a:r>
              <a:rPr lang="pl-PL" sz="1800" dirty="0" err="1"/>
              <a:t>training</a:t>
            </a:r>
            <a:r>
              <a:rPr lang="pl-PL" sz="1800" dirty="0"/>
              <a:t>, </a:t>
            </a:r>
            <a:r>
              <a:rPr lang="pl-PL" sz="1800" dirty="0" err="1"/>
              <a:t>all</a:t>
            </a:r>
            <a:r>
              <a:rPr lang="pl-PL" sz="1800" dirty="0"/>
              <a:t> </a:t>
            </a:r>
            <a:r>
              <a:rPr lang="pl-PL" sz="1800" dirty="0" err="1"/>
              <a:t>categorical</a:t>
            </a:r>
            <a:r>
              <a:rPr lang="pl-PL" sz="1800" dirty="0"/>
              <a:t> </a:t>
            </a:r>
            <a:r>
              <a:rPr lang="pl-PL" sz="1800" dirty="0" err="1"/>
              <a:t>text</a:t>
            </a:r>
            <a:r>
              <a:rPr lang="pl-PL" sz="1800" dirty="0"/>
              <a:t> data was </a:t>
            </a:r>
            <a:r>
              <a:rPr lang="pl-PL" sz="1800" dirty="0" err="1"/>
              <a:t>converted</a:t>
            </a:r>
            <a:r>
              <a:rPr lang="pl-PL" sz="1800" dirty="0"/>
              <a:t> </a:t>
            </a:r>
            <a:r>
              <a:rPr lang="pl-PL" sz="1800" dirty="0" err="1"/>
              <a:t>into</a:t>
            </a:r>
            <a:r>
              <a:rPr lang="pl-PL" sz="1800" dirty="0"/>
              <a:t> </a:t>
            </a:r>
            <a:r>
              <a:rPr lang="pl-PL" sz="1800" dirty="0" err="1"/>
              <a:t>numerical</a:t>
            </a:r>
            <a:r>
              <a:rPr lang="pl-PL" sz="1800" dirty="0"/>
              <a:t> </a:t>
            </a:r>
            <a:r>
              <a:rPr lang="pl-PL" sz="1800" dirty="0" err="1"/>
              <a:t>integers</a:t>
            </a:r>
            <a:r>
              <a:rPr lang="pl-PL" sz="1800" dirty="0"/>
              <a:t> </a:t>
            </a:r>
            <a:r>
              <a:rPr lang="pl-PL" sz="1800" dirty="0" err="1"/>
              <a:t>using</a:t>
            </a:r>
            <a:r>
              <a:rPr lang="pl-PL" sz="1800" dirty="0"/>
              <a:t> </a:t>
            </a:r>
            <a:r>
              <a:rPr lang="pl-PL" sz="1800" dirty="0" err="1"/>
              <a:t>Label</a:t>
            </a:r>
            <a:r>
              <a:rPr lang="pl-PL" sz="1800" dirty="0"/>
              <a:t> </a:t>
            </a:r>
            <a:r>
              <a:rPr lang="pl-PL" sz="1800" dirty="0" err="1"/>
              <a:t>Encoding</a:t>
            </a:r>
            <a:r>
              <a:rPr lang="pl-PL" sz="1800" dirty="0"/>
              <a:t>.</a:t>
            </a:r>
          </a:p>
          <a:p>
            <a:r>
              <a:rPr lang="pl-PL" sz="1800" dirty="0"/>
              <a:t>Data Split: The data was </a:t>
            </a:r>
            <a:r>
              <a:rPr lang="pl-PL" sz="1800" dirty="0" err="1"/>
              <a:t>split</a:t>
            </a:r>
            <a:r>
              <a:rPr lang="pl-PL" sz="1800" dirty="0"/>
              <a:t> </a:t>
            </a:r>
            <a:r>
              <a:rPr lang="pl-PL" sz="1800" dirty="0" err="1"/>
              <a:t>into</a:t>
            </a:r>
            <a:r>
              <a:rPr lang="pl-PL" sz="1800" dirty="0"/>
              <a:t> 90% for Training and 10% for </a:t>
            </a:r>
            <a:r>
              <a:rPr lang="pl-PL" sz="1800" dirty="0" err="1"/>
              <a:t>Testing</a:t>
            </a:r>
            <a:r>
              <a:rPr lang="pl-PL" sz="1800" dirty="0"/>
              <a:t>.</a:t>
            </a:r>
          </a:p>
          <a:p>
            <a:endParaRPr lang="pl-PL" sz="1800" dirty="0"/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0D96308D-72AE-019B-A47E-AAF0D9657E0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004743" y="2410098"/>
            <a:ext cx="6187081" cy="115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989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DAB3E68-397A-A39B-B0BF-6771254B4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Entropy</a:t>
            </a:r>
            <a:r>
              <a:rPr lang="pl-PL" dirty="0"/>
              <a:t> and Information </a:t>
            </a:r>
            <a:r>
              <a:rPr lang="pl-PL" dirty="0" err="1"/>
              <a:t>Gain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4D7476B-6622-FCC0-3881-1EDB192D431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sz="1800" dirty="0"/>
              <a:t>The </a:t>
            </a:r>
            <a:r>
              <a:rPr lang="pl-PL" sz="1800" dirty="0" err="1"/>
              <a:t>tree</a:t>
            </a:r>
            <a:r>
              <a:rPr lang="pl-PL" sz="1800" dirty="0"/>
              <a:t> </a:t>
            </a:r>
            <a:r>
              <a:rPr lang="pl-PL" sz="1800" dirty="0" err="1"/>
              <a:t>is</a:t>
            </a:r>
            <a:r>
              <a:rPr lang="pl-PL" sz="1800" dirty="0"/>
              <a:t> </a:t>
            </a:r>
            <a:r>
              <a:rPr lang="pl-PL" sz="1800" dirty="0" err="1"/>
              <a:t>built</a:t>
            </a:r>
            <a:r>
              <a:rPr lang="pl-PL" sz="1800" dirty="0"/>
              <a:t> by </a:t>
            </a:r>
            <a:r>
              <a:rPr lang="pl-PL" sz="1800" dirty="0" err="1"/>
              <a:t>continuously</a:t>
            </a:r>
            <a:r>
              <a:rPr lang="pl-PL" sz="1800" dirty="0"/>
              <a:t> </a:t>
            </a:r>
            <a:r>
              <a:rPr lang="pl-PL" sz="1800" dirty="0" err="1"/>
              <a:t>reducing</a:t>
            </a:r>
            <a:r>
              <a:rPr lang="pl-PL" sz="1800" dirty="0"/>
              <a:t> </a:t>
            </a:r>
            <a:r>
              <a:rPr lang="pl-PL" sz="1800" dirty="0" err="1"/>
              <a:t>uncertainty</a:t>
            </a:r>
            <a:r>
              <a:rPr lang="pl-PL" sz="1800" dirty="0"/>
              <a:t>. </a:t>
            </a:r>
            <a:r>
              <a:rPr lang="pl-PL" sz="1800" dirty="0" err="1"/>
              <a:t>This</a:t>
            </a:r>
            <a:r>
              <a:rPr lang="pl-PL" sz="1800" dirty="0"/>
              <a:t> </a:t>
            </a:r>
            <a:r>
              <a:rPr lang="pl-PL" sz="1800" dirty="0" err="1"/>
              <a:t>is</a:t>
            </a:r>
            <a:r>
              <a:rPr lang="pl-PL" sz="1800" dirty="0"/>
              <a:t> </a:t>
            </a:r>
            <a:r>
              <a:rPr lang="pl-PL" sz="1800" dirty="0" err="1"/>
              <a:t>done</a:t>
            </a:r>
            <a:r>
              <a:rPr lang="pl-PL" sz="1800" dirty="0"/>
              <a:t> </a:t>
            </a:r>
            <a:r>
              <a:rPr lang="pl-PL" sz="1800" dirty="0" err="1"/>
              <a:t>using</a:t>
            </a:r>
            <a:r>
              <a:rPr lang="pl-PL" sz="1800" dirty="0"/>
              <a:t> </a:t>
            </a:r>
            <a:r>
              <a:rPr lang="pl-PL" sz="1800" dirty="0" err="1"/>
              <a:t>two</a:t>
            </a:r>
            <a:r>
              <a:rPr lang="pl-PL" sz="1800" dirty="0"/>
              <a:t> </a:t>
            </a:r>
            <a:r>
              <a:rPr lang="pl-PL" sz="1800" dirty="0" err="1"/>
              <a:t>core</a:t>
            </a:r>
            <a:r>
              <a:rPr lang="pl-PL" sz="1800" dirty="0"/>
              <a:t> </a:t>
            </a:r>
            <a:r>
              <a:rPr lang="pl-PL" sz="1800" dirty="0" err="1"/>
              <a:t>functions</a:t>
            </a:r>
            <a:r>
              <a:rPr lang="pl-PL" sz="1800" dirty="0"/>
              <a:t>:</a:t>
            </a:r>
          </a:p>
          <a:p>
            <a:pPr marL="0" indent="0">
              <a:buNone/>
            </a:pPr>
            <a:r>
              <a:rPr lang="pl-PL" sz="1800" dirty="0"/>
              <a:t>1. </a:t>
            </a:r>
            <a:r>
              <a:rPr lang="pl-PL" sz="1800" dirty="0" err="1"/>
              <a:t>Entropy</a:t>
            </a:r>
            <a:r>
              <a:rPr lang="pl-PL" sz="1800" dirty="0"/>
              <a:t>: </a:t>
            </a:r>
            <a:r>
              <a:rPr lang="pl-PL" sz="1800" dirty="0" err="1"/>
              <a:t>This</a:t>
            </a:r>
            <a:r>
              <a:rPr lang="pl-PL" sz="1800" dirty="0"/>
              <a:t> </a:t>
            </a:r>
            <a:r>
              <a:rPr lang="pl-PL" sz="1800" dirty="0" err="1"/>
              <a:t>measures</a:t>
            </a:r>
            <a:r>
              <a:rPr lang="pl-PL" sz="1800" dirty="0"/>
              <a:t> the </a:t>
            </a:r>
            <a:r>
              <a:rPr lang="pl-PL" sz="1800" dirty="0" err="1"/>
              <a:t>impurity</a:t>
            </a:r>
            <a:r>
              <a:rPr lang="pl-PL" sz="1800" dirty="0"/>
              <a:t> </a:t>
            </a:r>
            <a:r>
              <a:rPr lang="pl-PL" sz="1800" dirty="0" err="1"/>
              <a:t>or</a:t>
            </a:r>
            <a:r>
              <a:rPr lang="pl-PL" sz="1800" dirty="0"/>
              <a:t> </a:t>
            </a:r>
            <a:r>
              <a:rPr lang="pl-PL" sz="1800" dirty="0" err="1"/>
              <a:t>randomness</a:t>
            </a:r>
            <a:r>
              <a:rPr lang="pl-PL" sz="1800" dirty="0"/>
              <a:t> in a set of </a:t>
            </a:r>
            <a:r>
              <a:rPr lang="pl-PL" sz="1800" dirty="0" err="1"/>
              <a:t>class</a:t>
            </a:r>
            <a:r>
              <a:rPr lang="pl-PL" sz="1800" dirty="0"/>
              <a:t> </a:t>
            </a:r>
            <a:r>
              <a:rPr lang="pl-PL" sz="1800" dirty="0" err="1"/>
              <a:t>labels</a:t>
            </a:r>
            <a:r>
              <a:rPr lang="pl-PL" sz="1800" dirty="0"/>
              <a:t>.</a:t>
            </a:r>
          </a:p>
          <a:p>
            <a:r>
              <a:rPr lang="pl-PL" sz="1800" dirty="0" err="1"/>
              <a:t>Low</a:t>
            </a:r>
            <a:r>
              <a:rPr lang="pl-PL" sz="1800" dirty="0"/>
              <a:t> </a:t>
            </a:r>
            <a:r>
              <a:rPr lang="pl-PL" sz="1800" dirty="0" err="1"/>
              <a:t>Entropy</a:t>
            </a:r>
            <a:r>
              <a:rPr lang="pl-PL" sz="1800" dirty="0"/>
              <a:t> (</a:t>
            </a:r>
            <a:r>
              <a:rPr lang="pl-PL" sz="1800" dirty="0" err="1"/>
              <a:t>near</a:t>
            </a:r>
            <a:r>
              <a:rPr lang="pl-PL" sz="1800" dirty="0"/>
              <a:t> 0) </a:t>
            </a:r>
            <a:r>
              <a:rPr lang="pl-PL" sz="1800" dirty="0" err="1"/>
              <a:t>means</a:t>
            </a:r>
            <a:r>
              <a:rPr lang="pl-PL" sz="1800" dirty="0"/>
              <a:t> the data </a:t>
            </a:r>
            <a:r>
              <a:rPr lang="pl-PL" sz="1800" dirty="0" err="1"/>
              <a:t>is</a:t>
            </a:r>
            <a:r>
              <a:rPr lang="pl-PL" sz="1800" dirty="0"/>
              <a:t> </a:t>
            </a:r>
            <a:r>
              <a:rPr lang="pl-PL" sz="1800" dirty="0" err="1"/>
              <a:t>clean</a:t>
            </a:r>
            <a:r>
              <a:rPr lang="pl-PL" sz="1800" dirty="0"/>
              <a:t> (</a:t>
            </a:r>
            <a:r>
              <a:rPr lang="pl-PL" sz="1800" dirty="0" err="1"/>
              <a:t>e.g</a:t>
            </a:r>
            <a:r>
              <a:rPr lang="pl-PL" sz="1800" dirty="0"/>
              <a:t>., </a:t>
            </a:r>
            <a:r>
              <a:rPr lang="pl-PL" sz="1800" dirty="0" err="1"/>
              <a:t>all</a:t>
            </a:r>
            <a:r>
              <a:rPr lang="pl-PL" sz="1800" dirty="0"/>
              <a:t> </a:t>
            </a:r>
            <a:r>
              <a:rPr lang="pl-PL" sz="1800" dirty="0" err="1"/>
              <a:t>flights</a:t>
            </a:r>
            <a:r>
              <a:rPr lang="pl-PL" sz="1800" dirty="0"/>
              <a:t> </a:t>
            </a:r>
            <a:r>
              <a:rPr lang="pl-PL" sz="1800" dirty="0" err="1"/>
              <a:t>have</a:t>
            </a:r>
            <a:r>
              <a:rPr lang="pl-PL" sz="1800" dirty="0"/>
              <a:t> '1 stop').</a:t>
            </a:r>
          </a:p>
          <a:p>
            <a:r>
              <a:rPr lang="pl-PL" sz="1800" dirty="0"/>
              <a:t>The </a:t>
            </a:r>
            <a:r>
              <a:rPr lang="pl-PL" sz="1800" dirty="0" err="1"/>
              <a:t>Initial</a:t>
            </a:r>
            <a:r>
              <a:rPr lang="pl-PL" sz="1800" dirty="0"/>
              <a:t> </a:t>
            </a:r>
            <a:r>
              <a:rPr lang="pl-PL" sz="1800" dirty="0" err="1"/>
              <a:t>Entropy</a:t>
            </a:r>
            <a:r>
              <a:rPr lang="pl-PL" sz="1800" dirty="0"/>
              <a:t> of </a:t>
            </a:r>
            <a:r>
              <a:rPr lang="pl-PL" sz="1800" dirty="0" err="1"/>
              <a:t>our</a:t>
            </a:r>
            <a:r>
              <a:rPr lang="pl-PL" sz="1800" dirty="0"/>
              <a:t> </a:t>
            </a:r>
            <a:r>
              <a:rPr lang="pl-PL" sz="1800" dirty="0" err="1"/>
              <a:t>training</a:t>
            </a:r>
            <a:r>
              <a:rPr lang="pl-PL" sz="1800" dirty="0"/>
              <a:t> set (</a:t>
            </a:r>
            <a:r>
              <a:rPr lang="pl-PL" sz="1800" dirty="0" err="1"/>
              <a:t>e.g</a:t>
            </a:r>
            <a:r>
              <a:rPr lang="pl-PL" sz="1800" dirty="0"/>
              <a:t>., 1.43) </a:t>
            </a:r>
            <a:r>
              <a:rPr lang="pl-PL" sz="1800" dirty="0" err="1"/>
              <a:t>shows</a:t>
            </a:r>
            <a:r>
              <a:rPr lang="pl-PL" sz="1800" dirty="0"/>
              <a:t> high </a:t>
            </a:r>
            <a:r>
              <a:rPr lang="pl-PL" sz="1800" dirty="0" err="1"/>
              <a:t>uncertainty</a:t>
            </a:r>
            <a:r>
              <a:rPr lang="pl-PL" sz="1800" dirty="0"/>
              <a:t> </a:t>
            </a:r>
            <a:r>
              <a:rPr lang="pl-PL" sz="1800" dirty="0" err="1"/>
              <a:t>that</a:t>
            </a:r>
            <a:r>
              <a:rPr lang="pl-PL" sz="1800" dirty="0"/>
              <a:t> the model </a:t>
            </a:r>
            <a:r>
              <a:rPr lang="pl-PL" sz="1800" dirty="0" err="1"/>
              <a:t>must</a:t>
            </a:r>
            <a:r>
              <a:rPr lang="pl-PL" sz="1800" dirty="0"/>
              <a:t> </a:t>
            </a:r>
            <a:r>
              <a:rPr lang="pl-PL" sz="1800" dirty="0" err="1"/>
              <a:t>solve</a:t>
            </a:r>
            <a:r>
              <a:rPr lang="pl-PL" sz="1800" dirty="0"/>
              <a:t>.</a:t>
            </a:r>
          </a:p>
          <a:p>
            <a:pPr marL="0" indent="0">
              <a:buNone/>
            </a:pPr>
            <a:r>
              <a:rPr lang="pl-PL" sz="1800" dirty="0"/>
              <a:t>2. Information </a:t>
            </a:r>
            <a:r>
              <a:rPr lang="pl-PL" sz="1800" dirty="0" err="1"/>
              <a:t>Gain</a:t>
            </a:r>
            <a:r>
              <a:rPr lang="pl-PL" sz="1800" dirty="0"/>
              <a:t>: </a:t>
            </a:r>
            <a:r>
              <a:rPr lang="pl-PL" sz="1800" dirty="0" err="1"/>
              <a:t>This</a:t>
            </a:r>
            <a:r>
              <a:rPr lang="pl-PL" sz="1800" dirty="0"/>
              <a:t> </a:t>
            </a:r>
            <a:r>
              <a:rPr lang="pl-PL" sz="1800" dirty="0" err="1"/>
              <a:t>is</a:t>
            </a:r>
            <a:r>
              <a:rPr lang="pl-PL" sz="1800" dirty="0"/>
              <a:t> the </a:t>
            </a:r>
            <a:r>
              <a:rPr lang="pl-PL" sz="1800" dirty="0" err="1"/>
              <a:t>reduction</a:t>
            </a:r>
            <a:r>
              <a:rPr lang="pl-PL" sz="1800" dirty="0"/>
              <a:t> in </a:t>
            </a:r>
            <a:r>
              <a:rPr lang="pl-PL" sz="1800" dirty="0" err="1"/>
              <a:t>Entropy</a:t>
            </a:r>
            <a:r>
              <a:rPr lang="pl-PL" sz="1800" dirty="0"/>
              <a:t> </a:t>
            </a:r>
            <a:r>
              <a:rPr lang="pl-PL" sz="1800" dirty="0" err="1"/>
              <a:t>achieved</a:t>
            </a:r>
            <a:r>
              <a:rPr lang="pl-PL" sz="1800" dirty="0"/>
              <a:t> by </a:t>
            </a:r>
            <a:r>
              <a:rPr lang="pl-PL" sz="1800" dirty="0" err="1"/>
              <a:t>splitting</a:t>
            </a:r>
            <a:r>
              <a:rPr lang="pl-PL" sz="1800" dirty="0"/>
              <a:t> the data </a:t>
            </a:r>
            <a:r>
              <a:rPr lang="pl-PL" sz="1800" dirty="0" err="1"/>
              <a:t>using</a:t>
            </a:r>
            <a:r>
              <a:rPr lang="pl-PL" sz="1800" dirty="0"/>
              <a:t> a </a:t>
            </a:r>
            <a:r>
              <a:rPr lang="pl-PL" sz="1800" dirty="0" err="1"/>
              <a:t>specific</a:t>
            </a:r>
            <a:r>
              <a:rPr lang="pl-PL" sz="1800" dirty="0"/>
              <a:t> </a:t>
            </a:r>
            <a:r>
              <a:rPr lang="pl-PL" sz="1800" dirty="0" err="1"/>
              <a:t>feature</a:t>
            </a:r>
            <a:r>
              <a:rPr lang="pl-PL" sz="1800" dirty="0"/>
              <a:t>.</a:t>
            </a:r>
          </a:p>
          <a:p>
            <a:r>
              <a:rPr lang="pl-PL" sz="1800" dirty="0"/>
              <a:t>The </a:t>
            </a:r>
            <a:r>
              <a:rPr lang="pl-PL" sz="1800" dirty="0" err="1"/>
              <a:t>calculate_information_gain</a:t>
            </a:r>
            <a:r>
              <a:rPr lang="pl-PL" sz="1800" dirty="0"/>
              <a:t> </a:t>
            </a:r>
            <a:r>
              <a:rPr lang="pl-PL" sz="1800" dirty="0" err="1"/>
              <a:t>function</a:t>
            </a:r>
            <a:r>
              <a:rPr lang="pl-PL" sz="1800" dirty="0"/>
              <a:t> </a:t>
            </a:r>
            <a:r>
              <a:rPr lang="pl-PL" sz="1800" dirty="0" err="1"/>
              <a:t>tests</a:t>
            </a:r>
            <a:r>
              <a:rPr lang="pl-PL" sz="1800" dirty="0"/>
              <a:t> </a:t>
            </a:r>
            <a:r>
              <a:rPr lang="pl-PL" sz="1800" dirty="0" err="1"/>
              <a:t>all</a:t>
            </a:r>
            <a:r>
              <a:rPr lang="pl-PL" sz="1800" dirty="0"/>
              <a:t> </a:t>
            </a:r>
            <a:r>
              <a:rPr lang="pl-PL" sz="1800" dirty="0" err="1"/>
              <a:t>features</a:t>
            </a:r>
            <a:r>
              <a:rPr lang="pl-PL" sz="1800" dirty="0"/>
              <a:t>.</a:t>
            </a:r>
          </a:p>
          <a:p>
            <a:r>
              <a:rPr lang="pl-PL" sz="1800" dirty="0"/>
              <a:t>The </a:t>
            </a:r>
            <a:r>
              <a:rPr lang="pl-PL" sz="1800" dirty="0" err="1"/>
              <a:t>feature</a:t>
            </a:r>
            <a:r>
              <a:rPr lang="pl-PL" sz="1800" dirty="0"/>
              <a:t> </a:t>
            </a:r>
            <a:r>
              <a:rPr lang="pl-PL" sz="1800" dirty="0" err="1"/>
              <a:t>that</a:t>
            </a:r>
            <a:r>
              <a:rPr lang="pl-PL" sz="1800" dirty="0"/>
              <a:t> </a:t>
            </a:r>
            <a:r>
              <a:rPr lang="pl-PL" sz="1800" dirty="0" err="1"/>
              <a:t>yields</a:t>
            </a:r>
            <a:r>
              <a:rPr lang="pl-PL" sz="1800" dirty="0"/>
              <a:t> the </a:t>
            </a:r>
            <a:r>
              <a:rPr lang="pl-PL" sz="1800" dirty="0" err="1"/>
              <a:t>highest</a:t>
            </a:r>
            <a:r>
              <a:rPr lang="pl-PL" sz="1800" dirty="0"/>
              <a:t> IG </a:t>
            </a:r>
            <a:r>
              <a:rPr lang="pl-PL" sz="1800" dirty="0" err="1"/>
              <a:t>is</a:t>
            </a:r>
            <a:r>
              <a:rPr lang="pl-PL" sz="1800" dirty="0"/>
              <a:t> </a:t>
            </a:r>
            <a:r>
              <a:rPr lang="pl-PL" sz="1800" dirty="0" err="1"/>
              <a:t>chosen</a:t>
            </a:r>
            <a:r>
              <a:rPr lang="pl-PL" sz="1800" dirty="0"/>
              <a:t> as the </a:t>
            </a:r>
            <a:r>
              <a:rPr lang="pl-PL" sz="1800" dirty="0" err="1"/>
              <a:t>best</a:t>
            </a:r>
            <a:r>
              <a:rPr lang="pl-PL" sz="1800" dirty="0"/>
              <a:t> </a:t>
            </a:r>
            <a:r>
              <a:rPr lang="pl-PL" sz="1800" dirty="0" err="1"/>
              <a:t>feature</a:t>
            </a:r>
            <a:r>
              <a:rPr lang="pl-PL" sz="1800" dirty="0"/>
              <a:t> for the </a:t>
            </a:r>
            <a:r>
              <a:rPr lang="pl-PL" sz="1800" dirty="0" err="1"/>
              <a:t>split</a:t>
            </a:r>
            <a:r>
              <a:rPr lang="pl-PL" sz="1800" dirty="0"/>
              <a:t>, as </a:t>
            </a:r>
            <a:r>
              <a:rPr lang="pl-PL" sz="1800" dirty="0" err="1"/>
              <a:t>it</a:t>
            </a:r>
            <a:r>
              <a:rPr lang="pl-PL" sz="1800" dirty="0"/>
              <a:t> </a:t>
            </a:r>
            <a:r>
              <a:rPr lang="pl-PL" sz="1800" dirty="0" err="1"/>
              <a:t>introduces</a:t>
            </a:r>
            <a:r>
              <a:rPr lang="pl-PL" sz="1800" dirty="0"/>
              <a:t> the most 'order' </a:t>
            </a:r>
            <a:r>
              <a:rPr lang="pl-PL" sz="1800" dirty="0" err="1"/>
              <a:t>into</a:t>
            </a:r>
            <a:r>
              <a:rPr lang="pl-PL" sz="1800" dirty="0"/>
              <a:t> the data.</a:t>
            </a:r>
          </a:p>
          <a:p>
            <a:endParaRPr lang="pl-PL" sz="1800" dirty="0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C802B521-2DDA-E573-59FE-B51D71D83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672" y="2986162"/>
            <a:ext cx="6464300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068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6FC1176-C005-4DE4-025C-6BA75B29A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Results</a:t>
            </a:r>
            <a:r>
              <a:rPr lang="pl-PL" dirty="0"/>
              <a:t> and </a:t>
            </a:r>
            <a:r>
              <a:rPr lang="pl-PL" dirty="0" err="1"/>
              <a:t>comparison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2FF14F3-5422-4220-7655-A6C52F62EF2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sz="1800" dirty="0"/>
              <a:t>We </a:t>
            </a:r>
            <a:r>
              <a:rPr lang="pl-PL" sz="1800" dirty="0" err="1"/>
              <a:t>compare</a:t>
            </a:r>
            <a:r>
              <a:rPr lang="pl-PL" sz="1800" dirty="0"/>
              <a:t> </a:t>
            </a:r>
            <a:r>
              <a:rPr lang="pl-PL" sz="1800" dirty="0" err="1"/>
              <a:t>two</a:t>
            </a:r>
            <a:r>
              <a:rPr lang="pl-PL" sz="1800" dirty="0"/>
              <a:t> </a:t>
            </a:r>
            <a:r>
              <a:rPr lang="pl-PL" sz="1800" dirty="0" err="1"/>
              <a:t>models</a:t>
            </a:r>
            <a:r>
              <a:rPr lang="pl-PL" sz="1800" dirty="0"/>
              <a:t>, </a:t>
            </a:r>
            <a:r>
              <a:rPr lang="pl-PL" sz="1800" dirty="0" err="1"/>
              <a:t>both</a:t>
            </a:r>
            <a:r>
              <a:rPr lang="pl-PL" sz="1800" dirty="0"/>
              <a:t> </a:t>
            </a:r>
            <a:r>
              <a:rPr lang="pl-PL" sz="1800" dirty="0" err="1"/>
              <a:t>trained</a:t>
            </a:r>
            <a:r>
              <a:rPr lang="pl-PL" sz="1800" dirty="0"/>
              <a:t> </a:t>
            </a:r>
            <a:r>
              <a:rPr lang="pl-PL" sz="1800" dirty="0" err="1"/>
              <a:t>using</a:t>
            </a:r>
            <a:r>
              <a:rPr lang="pl-PL" sz="1800" dirty="0"/>
              <a:t> a </a:t>
            </a:r>
            <a:r>
              <a:rPr lang="pl-PL" sz="1800" dirty="0" err="1"/>
              <a:t>random</a:t>
            </a:r>
            <a:r>
              <a:rPr lang="pl-PL" sz="1800" dirty="0"/>
              <a:t> </a:t>
            </a:r>
            <a:r>
              <a:rPr lang="pl-PL" sz="1800" dirty="0" err="1"/>
              <a:t>seed</a:t>
            </a:r>
            <a:r>
              <a:rPr lang="pl-PL" sz="1800" dirty="0"/>
              <a:t> to </a:t>
            </a:r>
            <a:r>
              <a:rPr lang="pl-PL" sz="1800" dirty="0" err="1"/>
              <a:t>ensure</a:t>
            </a:r>
            <a:r>
              <a:rPr lang="pl-PL" sz="1800" dirty="0"/>
              <a:t> </a:t>
            </a:r>
            <a:r>
              <a:rPr lang="pl-PL" sz="1800" dirty="0" err="1"/>
              <a:t>variable</a:t>
            </a:r>
            <a:r>
              <a:rPr lang="pl-PL" sz="1800" dirty="0"/>
              <a:t> </a:t>
            </a:r>
            <a:r>
              <a:rPr lang="pl-PL" sz="1800" dirty="0" err="1"/>
              <a:t>results</a:t>
            </a:r>
            <a:r>
              <a:rPr lang="pl-PL" sz="1800" dirty="0"/>
              <a:t> </a:t>
            </a:r>
            <a:r>
              <a:rPr lang="pl-PL" sz="1800" dirty="0" err="1"/>
              <a:t>across</a:t>
            </a:r>
            <a:r>
              <a:rPr lang="pl-PL" sz="1800" dirty="0"/>
              <a:t> </a:t>
            </a:r>
            <a:r>
              <a:rPr lang="pl-PL" sz="1800" dirty="0" err="1"/>
              <a:t>sessions</a:t>
            </a:r>
            <a:r>
              <a:rPr lang="pl-PL" sz="1800" dirty="0"/>
              <a:t>.</a:t>
            </a:r>
          </a:p>
          <a:p>
            <a:pPr marL="0" indent="0">
              <a:buNone/>
            </a:pPr>
            <a:r>
              <a:rPr lang="pl-PL" sz="1800" dirty="0"/>
              <a:t>- the Information </a:t>
            </a:r>
            <a:r>
              <a:rPr lang="pl-PL" sz="1800" dirty="0" err="1"/>
              <a:t>Gain</a:t>
            </a:r>
            <a:r>
              <a:rPr lang="pl-PL" sz="1800" dirty="0"/>
              <a:t> </a:t>
            </a:r>
            <a:r>
              <a:rPr lang="pl-PL" sz="1800" dirty="0" err="1"/>
              <a:t>analysis</a:t>
            </a:r>
            <a:r>
              <a:rPr lang="pl-PL" sz="1800" dirty="0"/>
              <a:t> </a:t>
            </a:r>
            <a:r>
              <a:rPr lang="pl-PL" sz="1800" dirty="0" err="1"/>
              <a:t>consistently</a:t>
            </a:r>
            <a:r>
              <a:rPr lang="pl-PL" sz="1800" dirty="0"/>
              <a:t> </a:t>
            </a:r>
            <a:r>
              <a:rPr lang="pl-PL" sz="1800" dirty="0" err="1"/>
              <a:t>identified</a:t>
            </a:r>
            <a:r>
              <a:rPr lang="pl-PL" sz="1800" dirty="0"/>
              <a:t> </a:t>
            </a:r>
            <a:r>
              <a:rPr lang="pl-PL" sz="1800" dirty="0" err="1"/>
              <a:t>Destination</a:t>
            </a:r>
            <a:r>
              <a:rPr lang="pl-PL" sz="1800" dirty="0"/>
              <a:t> as the most </a:t>
            </a:r>
            <a:r>
              <a:rPr lang="pl-PL" sz="1800" dirty="0" err="1"/>
              <a:t>important</a:t>
            </a:r>
            <a:r>
              <a:rPr lang="pl-PL" sz="1800" dirty="0"/>
              <a:t> </a:t>
            </a:r>
            <a:r>
              <a:rPr lang="pl-PL" sz="1800" dirty="0" err="1"/>
              <a:t>feature</a:t>
            </a:r>
            <a:r>
              <a:rPr lang="pl-PL" sz="1800" dirty="0"/>
              <a:t> for the </a:t>
            </a:r>
            <a:r>
              <a:rPr lang="pl-PL" sz="1800" dirty="0" err="1"/>
              <a:t>initial</a:t>
            </a:r>
            <a:r>
              <a:rPr lang="pl-PL" sz="1800" dirty="0"/>
              <a:t> </a:t>
            </a:r>
            <a:r>
              <a:rPr lang="pl-PL" sz="1800" dirty="0" err="1"/>
              <a:t>split</a:t>
            </a:r>
            <a:endParaRPr lang="pl-PL" sz="1800" dirty="0"/>
          </a:p>
          <a:p>
            <a:pPr marL="0" indent="0">
              <a:buNone/>
            </a:pPr>
            <a:r>
              <a:rPr lang="pl-PL" sz="1800" dirty="0"/>
              <a:t>-the </a:t>
            </a:r>
            <a:r>
              <a:rPr lang="pl-PL" sz="1800" dirty="0" err="1"/>
              <a:t>training</a:t>
            </a:r>
            <a:r>
              <a:rPr lang="pl-PL" sz="1800" dirty="0"/>
              <a:t> set </a:t>
            </a:r>
            <a:r>
              <a:rPr lang="pl-PL" sz="1800" dirty="0" err="1"/>
              <a:t>entropy</a:t>
            </a:r>
            <a:r>
              <a:rPr lang="pl-PL" sz="1800" dirty="0"/>
              <a:t> (1.43) </a:t>
            </a:r>
            <a:r>
              <a:rPr lang="pl-PL" sz="1800" dirty="0" err="1"/>
              <a:t>confirmed</a:t>
            </a:r>
            <a:r>
              <a:rPr lang="pl-PL" sz="1800" dirty="0"/>
              <a:t> high </a:t>
            </a:r>
            <a:r>
              <a:rPr lang="pl-PL" sz="1800" dirty="0" err="1"/>
              <a:t>initial</a:t>
            </a:r>
            <a:r>
              <a:rPr lang="pl-PL" sz="1800" dirty="0"/>
              <a:t> </a:t>
            </a:r>
            <a:r>
              <a:rPr lang="pl-PL" sz="1800" dirty="0" err="1"/>
              <a:t>uncertainty</a:t>
            </a:r>
            <a:r>
              <a:rPr lang="pl-PL" sz="1800" dirty="0"/>
              <a:t>, </a:t>
            </a:r>
            <a:r>
              <a:rPr lang="pl-PL" sz="1800" dirty="0" err="1"/>
              <a:t>requiring</a:t>
            </a:r>
            <a:r>
              <a:rPr lang="pl-PL" sz="1800" dirty="0"/>
              <a:t> the model to </a:t>
            </a:r>
            <a:r>
              <a:rPr lang="pl-PL" sz="1800" dirty="0" err="1"/>
              <a:t>find</a:t>
            </a:r>
            <a:r>
              <a:rPr lang="pl-PL" sz="1800" dirty="0"/>
              <a:t> </a:t>
            </a:r>
            <a:r>
              <a:rPr lang="pl-PL" sz="1800" dirty="0" err="1"/>
              <a:t>strong</a:t>
            </a:r>
            <a:r>
              <a:rPr lang="pl-PL" sz="1800" dirty="0"/>
              <a:t> </a:t>
            </a:r>
            <a:r>
              <a:rPr lang="pl-PL" sz="1800" dirty="0" err="1"/>
              <a:t>patterns</a:t>
            </a:r>
            <a:r>
              <a:rPr lang="pl-PL" sz="1800" dirty="0"/>
              <a:t>.</a:t>
            </a:r>
          </a:p>
          <a:p>
            <a:pPr marL="0" indent="0">
              <a:buNone/>
            </a:pPr>
            <a:r>
              <a:rPr lang="pl-PL" sz="1800" dirty="0"/>
              <a:t>- the </a:t>
            </a:r>
            <a:r>
              <a:rPr lang="pl-PL" sz="1800" dirty="0" err="1"/>
              <a:t>simple</a:t>
            </a:r>
            <a:r>
              <a:rPr lang="pl-PL" sz="1800" dirty="0"/>
              <a:t> CART model </a:t>
            </a:r>
            <a:r>
              <a:rPr lang="pl-PL" sz="1800" dirty="0" err="1"/>
              <a:t>achieves</a:t>
            </a:r>
            <a:r>
              <a:rPr lang="pl-PL" sz="1800" dirty="0"/>
              <a:t> </a:t>
            </a:r>
            <a:r>
              <a:rPr lang="pl-PL" sz="1800" dirty="0" err="1"/>
              <a:t>significantly</a:t>
            </a:r>
            <a:r>
              <a:rPr lang="pl-PL" sz="1800" dirty="0"/>
              <a:t> </a:t>
            </a:r>
            <a:r>
              <a:rPr lang="pl-PL" sz="1800" dirty="0" err="1"/>
              <a:t>lower</a:t>
            </a:r>
            <a:r>
              <a:rPr lang="pl-PL" sz="1800" dirty="0"/>
              <a:t> </a:t>
            </a:r>
            <a:r>
              <a:rPr lang="pl-PL" sz="1800" dirty="0" err="1"/>
              <a:t>accuracy</a:t>
            </a:r>
            <a:r>
              <a:rPr lang="pl-PL" sz="1800" dirty="0"/>
              <a:t>. </a:t>
            </a:r>
            <a:r>
              <a:rPr lang="pl-PL" sz="1800" dirty="0" err="1"/>
              <a:t>This</a:t>
            </a:r>
            <a:r>
              <a:rPr lang="pl-PL" sz="1800" dirty="0"/>
              <a:t> </a:t>
            </a:r>
            <a:r>
              <a:rPr lang="pl-PL" sz="1800" dirty="0" err="1"/>
              <a:t>confirms</a:t>
            </a:r>
            <a:r>
              <a:rPr lang="pl-PL" sz="1800" dirty="0"/>
              <a:t> </a:t>
            </a:r>
            <a:r>
              <a:rPr lang="pl-PL" sz="1800" dirty="0" err="1"/>
              <a:t>that</a:t>
            </a:r>
            <a:r>
              <a:rPr lang="pl-PL" sz="1800" dirty="0"/>
              <a:t> </a:t>
            </a:r>
            <a:r>
              <a:rPr lang="pl-PL" sz="1800" dirty="0" err="1"/>
              <a:t>limiting</a:t>
            </a:r>
            <a:r>
              <a:rPr lang="pl-PL" sz="1800" dirty="0"/>
              <a:t> </a:t>
            </a:r>
            <a:r>
              <a:rPr lang="pl-PL" sz="1800" dirty="0" err="1"/>
              <a:t>complexity</a:t>
            </a:r>
            <a:r>
              <a:rPr lang="pl-PL" sz="1800" dirty="0"/>
              <a:t> </a:t>
            </a:r>
            <a:r>
              <a:rPr lang="pl-PL" sz="1800" dirty="0" err="1"/>
              <a:t>directly</a:t>
            </a:r>
            <a:r>
              <a:rPr lang="pl-PL" sz="1800" dirty="0"/>
              <a:t> </a:t>
            </a:r>
            <a:r>
              <a:rPr lang="pl-PL" sz="1800" dirty="0" err="1"/>
              <a:t>limits</a:t>
            </a:r>
            <a:r>
              <a:rPr lang="pl-PL" sz="1800" dirty="0"/>
              <a:t> performance.</a:t>
            </a:r>
          </a:p>
          <a:p>
            <a:pPr marL="0" indent="0">
              <a:buNone/>
            </a:pPr>
            <a:r>
              <a:rPr lang="pl-PL" sz="1800" dirty="0"/>
              <a:t>- The </a:t>
            </a:r>
            <a:r>
              <a:rPr lang="pl-PL" sz="1800" dirty="0" err="1"/>
              <a:t>Confusion</a:t>
            </a:r>
            <a:r>
              <a:rPr lang="pl-PL" sz="1800" dirty="0"/>
              <a:t> Matrix </a:t>
            </a:r>
            <a:r>
              <a:rPr lang="pl-PL" sz="1800" dirty="0" err="1"/>
              <a:t>confirmed</a:t>
            </a:r>
            <a:r>
              <a:rPr lang="pl-PL" sz="1800" dirty="0"/>
              <a:t> </a:t>
            </a:r>
            <a:r>
              <a:rPr lang="pl-PL" sz="1800" dirty="0" err="1"/>
              <a:t>that</a:t>
            </a:r>
            <a:r>
              <a:rPr lang="pl-PL" sz="1800" dirty="0"/>
              <a:t> the </a:t>
            </a:r>
            <a:r>
              <a:rPr lang="pl-PL" sz="1800" dirty="0" err="1"/>
              <a:t>simple</a:t>
            </a:r>
            <a:r>
              <a:rPr lang="pl-PL" sz="1800" dirty="0"/>
              <a:t> model </a:t>
            </a:r>
            <a:r>
              <a:rPr lang="pl-PL" sz="1800" dirty="0" err="1"/>
              <a:t>struggles</a:t>
            </a:r>
            <a:r>
              <a:rPr lang="pl-PL" sz="1800" dirty="0"/>
              <a:t> most with </a:t>
            </a:r>
            <a:r>
              <a:rPr lang="pl-PL" sz="1800" dirty="0" err="1"/>
              <a:t>minority</a:t>
            </a:r>
            <a:r>
              <a:rPr lang="pl-PL" sz="1800" dirty="0"/>
              <a:t> </a:t>
            </a:r>
            <a:r>
              <a:rPr lang="pl-PL" sz="1800" dirty="0" err="1"/>
              <a:t>classes</a:t>
            </a:r>
            <a:r>
              <a:rPr lang="pl-PL" sz="1800" dirty="0"/>
              <a:t> (</a:t>
            </a:r>
            <a:r>
              <a:rPr lang="pl-PL" sz="1800" dirty="0" err="1"/>
              <a:t>flights</a:t>
            </a:r>
            <a:r>
              <a:rPr lang="pl-PL" sz="1800" dirty="0"/>
              <a:t> with 1 </a:t>
            </a:r>
            <a:r>
              <a:rPr lang="pl-PL" sz="1800" dirty="0" err="1"/>
              <a:t>or</a:t>
            </a:r>
            <a:r>
              <a:rPr lang="pl-PL" sz="1800" dirty="0"/>
              <a:t> 2 </a:t>
            </a:r>
            <a:r>
              <a:rPr lang="pl-PL" sz="1800" dirty="0" err="1"/>
              <a:t>stops</a:t>
            </a:r>
            <a:r>
              <a:rPr lang="pl-PL" sz="1800" dirty="0"/>
              <a:t>)</a:t>
            </a: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AD12A7CE-641E-E6F2-A5A6-42FCE8D61A7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800850" y="2206077"/>
            <a:ext cx="5708650" cy="4404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542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4">
            <a:extLst>
              <a:ext uri="{FF2B5EF4-FFF2-40B4-BE49-F238E27FC236}">
                <a16:creationId xmlns:a16="http://schemas.microsoft.com/office/drawing/2014/main" id="{7A5D971C-C9BF-3880-3B7D-4679ACC96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924" y="2842146"/>
            <a:ext cx="11585575" cy="1460500"/>
          </a:xfrm>
        </p:spPr>
        <p:txBody>
          <a:bodyPr/>
          <a:lstStyle/>
          <a:p>
            <a:pPr algn="ctr"/>
            <a:r>
              <a:rPr lang="pl-PL" dirty="0" err="1"/>
              <a:t>Thank</a:t>
            </a:r>
            <a:r>
              <a:rPr lang="pl-PL" dirty="0"/>
              <a:t> </a:t>
            </a:r>
            <a:r>
              <a:rPr lang="pl-PL" dirty="0" err="1"/>
              <a:t>you</a:t>
            </a:r>
            <a:r>
              <a:rPr lang="pl-PL" dirty="0"/>
              <a:t> for </a:t>
            </a:r>
            <a:r>
              <a:rPr lang="pl-PL" dirty="0" err="1"/>
              <a:t>your</a:t>
            </a:r>
            <a:r>
              <a:rPr lang="pl-PL" dirty="0"/>
              <a:t> </a:t>
            </a:r>
            <a:r>
              <a:rPr lang="pl-PL" dirty="0" err="1"/>
              <a:t>attention</a:t>
            </a:r>
            <a:r>
              <a:rPr lang="pl-PL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876423932"/>
      </p:ext>
    </p:extLst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Motyw pakietu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otyw pakietu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otyw pakietu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00FF"/>
      </a:hlink>
      <a:folHlink>
        <a:srgbClr val="FF00FF"/>
      </a:folHlink>
    </a:clrScheme>
    <a:fontScheme name="Pakiet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235</TotalTime>
  <Words>443</Words>
  <Application>Microsoft Macintosh PowerPoint</Application>
  <PresentationFormat>Niestandardowy</PresentationFormat>
  <Paragraphs>34</Paragraphs>
  <Slides>6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FagoNoBoldCE-Caps</vt:lpstr>
      <vt:lpstr>Helvetica Neue</vt:lpstr>
      <vt:lpstr>Blank Presentation</vt:lpstr>
      <vt:lpstr>Prezentacja programu PowerPoint</vt:lpstr>
      <vt:lpstr>Goal of the project</vt:lpstr>
      <vt:lpstr>Database</vt:lpstr>
      <vt:lpstr>Entropy and Information Gain</vt:lpstr>
      <vt:lpstr>Results and comparison</vt:lpstr>
      <vt:lpstr>Thank you for your attention!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Maciek</dc:creator>
  <cp:lastModifiedBy>Mateusz Maj</cp:lastModifiedBy>
  <cp:revision>10</cp:revision>
  <dcterms:modified xsi:type="dcterms:W3CDTF">2025-12-05T15:02:40Z</dcterms:modified>
</cp:coreProperties>
</file>